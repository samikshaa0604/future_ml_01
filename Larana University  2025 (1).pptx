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XM Yekan" charset="1" panose="02000503030000020004"/>
      <p:regular r:id="rId26"/>
    </p:embeddedFont>
    <p:embeddedFont>
      <p:font typeface="Araboto" charset="1" panose="02000500000000000000"/>
      <p:regular r:id="rId27"/>
    </p:embeddedFont>
    <p:embeddedFont>
      <p:font typeface="XM Yekan Bold" charset="1" panose="02000803030000020004"/>
      <p:regular r:id="rId28"/>
    </p:embeddedFont>
    <p:embeddedFont>
      <p:font typeface="Araboto Bold" charset="1" panose="02000500000000000000"/>
      <p:regular r:id="rId29"/>
    </p:embeddedFont>
    <p:embeddedFont>
      <p:font typeface="Canva Sans Bold" charset="1" panose="020B08030305010401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https://facebook.github.io/prophet/" TargetMode="External" Type="http://schemas.openxmlformats.org/officeDocument/2006/relationships/hyperlink"/><Relationship Id="rId7" Target="https://xgboost.readthedocs.io" TargetMode="External" Type="http://schemas.openxmlformats.org/officeDocument/2006/relationships/hyperlink"/><Relationship Id="rId8" Target="https://matplotlib.org" TargetMode="External" Type="http://schemas.openxmlformats.org/officeDocument/2006/relationships/hyperlink"/><Relationship Id="rId9" Target="https://learn.microsoft.com/power-bi/"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5751983" y="7358757"/>
            <a:ext cx="3014634" cy="4093948"/>
          </a:xfrm>
          <a:custGeom>
            <a:avLst/>
            <a:gdLst/>
            <a:ahLst/>
            <a:cxnLst/>
            <a:rect r="r" b="b" t="t" l="l"/>
            <a:pathLst>
              <a:path h="4093948" w="3014634">
                <a:moveTo>
                  <a:pt x="0" y="0"/>
                </a:moveTo>
                <a:lnTo>
                  <a:pt x="3014634" y="0"/>
                </a:lnTo>
                <a:lnTo>
                  <a:pt x="3014634" y="4093947"/>
                </a:lnTo>
                <a:lnTo>
                  <a:pt x="0" y="40939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0">
            <a:off x="11734597" y="9229725"/>
            <a:ext cx="4017385" cy="3703299"/>
          </a:xfrm>
          <a:custGeom>
            <a:avLst/>
            <a:gdLst/>
            <a:ahLst/>
            <a:cxnLst/>
            <a:rect r="r" b="b" t="t" l="l"/>
            <a:pathLst>
              <a:path h="3703299" w="4017385">
                <a:moveTo>
                  <a:pt x="0" y="3703299"/>
                </a:moveTo>
                <a:lnTo>
                  <a:pt x="4017386" y="3703299"/>
                </a:lnTo>
                <a:lnTo>
                  <a:pt x="4017386" y="0"/>
                </a:lnTo>
                <a:lnTo>
                  <a:pt x="0" y="0"/>
                </a:lnTo>
                <a:lnTo>
                  <a:pt x="0" y="370329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0">
            <a:off x="-450042" y="-1056374"/>
            <a:ext cx="3014634" cy="4093948"/>
          </a:xfrm>
          <a:custGeom>
            <a:avLst/>
            <a:gdLst/>
            <a:ahLst/>
            <a:cxnLst/>
            <a:rect r="r" b="b" t="t" l="l"/>
            <a:pathLst>
              <a:path h="4093948" w="3014634">
                <a:moveTo>
                  <a:pt x="3014634" y="4093948"/>
                </a:moveTo>
                <a:lnTo>
                  <a:pt x="0" y="4093948"/>
                </a:lnTo>
                <a:lnTo>
                  <a:pt x="0" y="0"/>
                </a:lnTo>
                <a:lnTo>
                  <a:pt x="3014634" y="0"/>
                </a:lnTo>
                <a:lnTo>
                  <a:pt x="3014634" y="409394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2564592" y="-2712699"/>
            <a:ext cx="4017385" cy="3703299"/>
          </a:xfrm>
          <a:custGeom>
            <a:avLst/>
            <a:gdLst/>
            <a:ahLst/>
            <a:cxnLst/>
            <a:rect r="r" b="b" t="t" l="l"/>
            <a:pathLst>
              <a:path h="3703299" w="4017385">
                <a:moveTo>
                  <a:pt x="0" y="3703299"/>
                </a:moveTo>
                <a:lnTo>
                  <a:pt x="4017386" y="3703299"/>
                </a:lnTo>
                <a:lnTo>
                  <a:pt x="4017386" y="0"/>
                </a:lnTo>
                <a:lnTo>
                  <a:pt x="0" y="0"/>
                </a:lnTo>
                <a:lnTo>
                  <a:pt x="0" y="370329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771237" y="3132824"/>
            <a:ext cx="14745526" cy="1267822"/>
          </a:xfrm>
          <a:prstGeom prst="rect">
            <a:avLst/>
          </a:prstGeom>
        </p:spPr>
        <p:txBody>
          <a:bodyPr anchor="t" rtlCol="false" tIns="0" lIns="0" bIns="0" rIns="0">
            <a:spAutoFit/>
          </a:bodyPr>
          <a:lstStyle/>
          <a:p>
            <a:pPr algn="ctr">
              <a:lnSpc>
                <a:spcPts val="4914"/>
              </a:lnSpc>
            </a:pPr>
            <a:r>
              <a:rPr lang="en-US" sz="4914">
                <a:solidFill>
                  <a:srgbClr val="124D3E"/>
                </a:solidFill>
                <a:latin typeface="XM Yekan"/>
                <a:ea typeface="XM Yekan"/>
                <a:cs typeface="XM Yekan"/>
                <a:sym typeface="XM Yekan"/>
              </a:rPr>
              <a:t>AI-Powered Sales Forcasting and  Churn Prediction Dashboard </a:t>
            </a:r>
          </a:p>
        </p:txBody>
      </p:sp>
      <p:sp>
        <p:nvSpPr>
          <p:cNvPr name="TextBox 12" id="12"/>
          <p:cNvSpPr txBox="true"/>
          <p:nvPr/>
        </p:nvSpPr>
        <p:spPr>
          <a:xfrm rot="0">
            <a:off x="4573285" y="7743573"/>
            <a:ext cx="9311608" cy="1662158"/>
          </a:xfrm>
          <a:prstGeom prst="rect">
            <a:avLst/>
          </a:prstGeom>
        </p:spPr>
        <p:txBody>
          <a:bodyPr anchor="t" rtlCol="false" tIns="0" lIns="0" bIns="0" rIns="0">
            <a:spAutoFit/>
          </a:bodyPr>
          <a:lstStyle/>
          <a:p>
            <a:pPr algn="ctr">
              <a:lnSpc>
                <a:spcPts val="4314"/>
              </a:lnSpc>
            </a:pPr>
            <a:r>
              <a:rPr lang="en-US" sz="4314">
                <a:solidFill>
                  <a:srgbClr val="124D3E"/>
                </a:solidFill>
                <a:latin typeface="XM Yekan"/>
                <a:ea typeface="XM Yekan"/>
                <a:cs typeface="XM Yekan"/>
                <a:sym typeface="XM Yekan"/>
              </a:rPr>
              <a:t>Presented by </a:t>
            </a:r>
          </a:p>
          <a:p>
            <a:pPr algn="ctr">
              <a:lnSpc>
                <a:spcPts val="4314"/>
              </a:lnSpc>
            </a:pPr>
            <a:r>
              <a:rPr lang="en-US" sz="4314">
                <a:solidFill>
                  <a:srgbClr val="124D3E"/>
                </a:solidFill>
                <a:latin typeface="XM Yekan"/>
                <a:ea typeface="XM Yekan"/>
                <a:cs typeface="XM Yekan"/>
                <a:sym typeface="XM Yekan"/>
              </a:rPr>
              <a:t>Podichetty Samiksha</a:t>
            </a:r>
          </a:p>
          <a:p>
            <a:pPr algn="ctr">
              <a:lnSpc>
                <a:spcPts val="4314"/>
              </a:lnSpc>
            </a:pPr>
            <a:r>
              <a:rPr lang="en-US" sz="4314">
                <a:solidFill>
                  <a:srgbClr val="124D3E"/>
                </a:solidFill>
                <a:latin typeface="XM Yekan"/>
                <a:ea typeface="XM Yekan"/>
                <a:cs typeface="XM Yekan"/>
                <a:sym typeface="XM Yekan"/>
              </a:rPr>
              <a:t>160123737021</a:t>
            </a:r>
          </a:p>
        </p:txBody>
      </p:sp>
      <p:sp>
        <p:nvSpPr>
          <p:cNvPr name="TextBox 13" id="13"/>
          <p:cNvSpPr txBox="true"/>
          <p:nvPr/>
        </p:nvSpPr>
        <p:spPr>
          <a:xfrm rot="0">
            <a:off x="623277" y="1358294"/>
            <a:ext cx="17041446" cy="1345597"/>
          </a:xfrm>
          <a:prstGeom prst="rect">
            <a:avLst/>
          </a:prstGeom>
        </p:spPr>
        <p:txBody>
          <a:bodyPr anchor="t" rtlCol="false" tIns="0" lIns="0" bIns="0" rIns="0">
            <a:spAutoFit/>
          </a:bodyPr>
          <a:lstStyle/>
          <a:p>
            <a:pPr algn="ctr">
              <a:lnSpc>
                <a:spcPts val="9490"/>
              </a:lnSpc>
            </a:pPr>
            <a:r>
              <a:rPr lang="en-US" sz="11863">
                <a:solidFill>
                  <a:srgbClr val="124D3E"/>
                </a:solidFill>
                <a:latin typeface="XM Yekan"/>
                <a:ea typeface="XM Yekan"/>
                <a:cs typeface="XM Yekan"/>
                <a:sym typeface="XM Yekan"/>
              </a:rPr>
              <a:t>INTERNSHIP ON</a:t>
            </a:r>
          </a:p>
        </p:txBody>
      </p:sp>
      <p:sp>
        <p:nvSpPr>
          <p:cNvPr name="TextBox 14" id="14"/>
          <p:cNvSpPr txBox="true"/>
          <p:nvPr/>
        </p:nvSpPr>
        <p:spPr>
          <a:xfrm rot="0">
            <a:off x="4282337" y="5219738"/>
            <a:ext cx="10254407" cy="1877058"/>
          </a:xfrm>
          <a:prstGeom prst="rect">
            <a:avLst/>
          </a:prstGeom>
        </p:spPr>
        <p:txBody>
          <a:bodyPr anchor="t" rtlCol="false" tIns="0" lIns="0" bIns="0" rIns="0">
            <a:spAutoFit/>
          </a:bodyPr>
          <a:lstStyle/>
          <a:p>
            <a:pPr algn="ctr">
              <a:lnSpc>
                <a:spcPts val="4899"/>
              </a:lnSpc>
              <a:spcBef>
                <a:spcPct val="0"/>
              </a:spcBef>
            </a:pPr>
            <a:r>
              <a:rPr lang="en-US" sz="4899">
                <a:solidFill>
                  <a:srgbClr val="124D3E"/>
                </a:solidFill>
                <a:latin typeface="XM Yekan"/>
                <a:ea typeface="XM Yekan"/>
                <a:cs typeface="XM Yekan"/>
                <a:sym typeface="XM Yekan"/>
              </a:rPr>
              <a:t>Under The Guidance Of:</a:t>
            </a:r>
          </a:p>
          <a:p>
            <a:pPr algn="ctr">
              <a:lnSpc>
                <a:spcPts val="4899"/>
              </a:lnSpc>
              <a:spcBef>
                <a:spcPct val="0"/>
              </a:spcBef>
            </a:pPr>
            <a:r>
              <a:rPr lang="en-US" sz="4899">
                <a:solidFill>
                  <a:srgbClr val="124D3E"/>
                </a:solidFill>
                <a:latin typeface="XM Yekan"/>
                <a:ea typeface="XM Yekan"/>
                <a:cs typeface="XM Yekan"/>
                <a:sym typeface="XM Yekan"/>
              </a:rPr>
              <a:t>Mr. V. Santhosh, Assistant Professor,</a:t>
            </a:r>
          </a:p>
          <a:p>
            <a:pPr algn="ctr">
              <a:lnSpc>
                <a:spcPts val="4899"/>
              </a:lnSpc>
              <a:spcBef>
                <a:spcPct val="0"/>
              </a:spcBef>
            </a:pPr>
            <a:r>
              <a:rPr lang="en-US" sz="4899">
                <a:solidFill>
                  <a:srgbClr val="124D3E"/>
                </a:solidFill>
                <a:latin typeface="XM Yekan"/>
                <a:ea typeface="XM Yekan"/>
                <a:cs typeface="XM Yekan"/>
                <a:sym typeface="XM Yekan"/>
              </a:rPr>
              <a:t>IT Department,CBIT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2625889" y="-3114750"/>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3614931" y="2081646"/>
            <a:ext cx="11058139" cy="6791325"/>
          </a:xfrm>
          <a:prstGeom prst="rect">
            <a:avLst/>
          </a:prstGeom>
        </p:spPr>
        <p:txBody>
          <a:bodyPr anchor="t" rtlCol="false" tIns="0" lIns="0" bIns="0" rIns="0">
            <a:spAutoFit/>
          </a:bodyPr>
          <a:lstStyle/>
          <a:p>
            <a:pPr algn="just">
              <a:lnSpc>
                <a:spcPts val="6000"/>
              </a:lnSpc>
            </a:pPr>
            <a:r>
              <a:rPr lang="en-US" sz="3000">
                <a:solidFill>
                  <a:srgbClr val="000000"/>
                </a:solidFill>
                <a:latin typeface="XM Yekan"/>
                <a:ea typeface="XM Yekan"/>
                <a:cs typeface="XM Yekan"/>
                <a:sym typeface="XM Yekan"/>
              </a:rPr>
              <a:t>1.Introduction</a:t>
            </a:r>
          </a:p>
          <a:p>
            <a:pPr algn="just">
              <a:lnSpc>
                <a:spcPts val="6000"/>
              </a:lnSpc>
            </a:pPr>
            <a:r>
              <a:rPr lang="en-US" sz="3000">
                <a:solidFill>
                  <a:srgbClr val="000000"/>
                </a:solidFill>
                <a:latin typeface="XM Yekan"/>
                <a:ea typeface="XM Yekan"/>
                <a:cs typeface="XM Yekan"/>
                <a:sym typeface="XM Yekan"/>
              </a:rPr>
              <a:t>2.Internship Overview</a:t>
            </a:r>
          </a:p>
          <a:p>
            <a:pPr algn="just">
              <a:lnSpc>
                <a:spcPts val="6000"/>
              </a:lnSpc>
            </a:pPr>
            <a:r>
              <a:rPr lang="en-US" sz="3000">
                <a:solidFill>
                  <a:srgbClr val="000000"/>
                </a:solidFill>
                <a:latin typeface="XM Yekan"/>
                <a:ea typeface="XM Yekan"/>
                <a:cs typeface="XM Yekan"/>
                <a:sym typeface="XM Yekan"/>
              </a:rPr>
              <a:t>3. Introduction</a:t>
            </a:r>
          </a:p>
          <a:p>
            <a:pPr algn="just">
              <a:lnSpc>
                <a:spcPts val="6000"/>
              </a:lnSpc>
            </a:pPr>
            <a:r>
              <a:rPr lang="en-US" sz="3000">
                <a:solidFill>
                  <a:srgbClr val="000000"/>
                </a:solidFill>
                <a:latin typeface="XM Yekan"/>
                <a:ea typeface="XM Yekan"/>
                <a:cs typeface="XM Yekan"/>
                <a:sym typeface="XM Yekan"/>
              </a:rPr>
              <a:t>4.Certificate</a:t>
            </a:r>
          </a:p>
          <a:p>
            <a:pPr algn="just">
              <a:lnSpc>
                <a:spcPts val="6000"/>
              </a:lnSpc>
            </a:pPr>
            <a:r>
              <a:rPr lang="en-US" sz="3000">
                <a:solidFill>
                  <a:srgbClr val="000000"/>
                </a:solidFill>
                <a:latin typeface="XM Yekan"/>
                <a:ea typeface="XM Yekan"/>
                <a:cs typeface="XM Yekan"/>
                <a:sym typeface="XM Yekan"/>
              </a:rPr>
              <a:t>5.Task 1- AI Powered Sales forcasting dashboard</a:t>
            </a:r>
          </a:p>
          <a:p>
            <a:pPr algn="just">
              <a:lnSpc>
                <a:spcPts val="6000"/>
              </a:lnSpc>
            </a:pPr>
            <a:r>
              <a:rPr lang="en-US" sz="3000">
                <a:solidFill>
                  <a:srgbClr val="000000"/>
                </a:solidFill>
                <a:latin typeface="XM Yekan"/>
                <a:ea typeface="XM Yekan"/>
                <a:cs typeface="XM Yekan"/>
                <a:sym typeface="XM Yekan"/>
              </a:rPr>
              <a:t>6.Task 2-Churn Prediction</a:t>
            </a:r>
          </a:p>
          <a:p>
            <a:pPr algn="just">
              <a:lnSpc>
                <a:spcPts val="6000"/>
              </a:lnSpc>
            </a:pPr>
            <a:r>
              <a:rPr lang="en-US" sz="3000">
                <a:solidFill>
                  <a:srgbClr val="000000"/>
                </a:solidFill>
                <a:latin typeface="XM Yekan"/>
                <a:ea typeface="XM Yekan"/>
                <a:cs typeface="XM Yekan"/>
                <a:sym typeface="XM Yekan"/>
              </a:rPr>
              <a:t>7.Outcome of the Internship</a:t>
            </a:r>
          </a:p>
          <a:p>
            <a:pPr algn="just">
              <a:lnSpc>
                <a:spcPts val="6000"/>
              </a:lnSpc>
            </a:pPr>
            <a:r>
              <a:rPr lang="en-US" sz="3000">
                <a:solidFill>
                  <a:srgbClr val="000000"/>
                </a:solidFill>
                <a:latin typeface="XM Yekan"/>
                <a:ea typeface="XM Yekan"/>
                <a:cs typeface="XM Yekan"/>
                <a:sym typeface="XM Yekan"/>
              </a:rPr>
              <a:t>8.Conclusion </a:t>
            </a:r>
          </a:p>
          <a:p>
            <a:pPr algn="just">
              <a:lnSpc>
                <a:spcPts val="6000"/>
              </a:lnSpc>
            </a:pPr>
            <a:r>
              <a:rPr lang="en-US" sz="3000">
                <a:solidFill>
                  <a:srgbClr val="000000"/>
                </a:solidFill>
                <a:latin typeface="XM Yekan"/>
                <a:ea typeface="XM Yekan"/>
                <a:cs typeface="XM Yekan"/>
                <a:sym typeface="XM Yekan"/>
              </a:rPr>
              <a:t>9.Bibliography</a:t>
            </a:r>
          </a:p>
        </p:txBody>
      </p:sp>
      <p:sp>
        <p:nvSpPr>
          <p:cNvPr name="TextBox 6" id="6"/>
          <p:cNvSpPr txBox="true"/>
          <p:nvPr/>
        </p:nvSpPr>
        <p:spPr>
          <a:xfrm rot="0">
            <a:off x="4544710" y="1196557"/>
            <a:ext cx="9198580" cy="1206010"/>
          </a:xfrm>
          <a:prstGeom prst="rect">
            <a:avLst/>
          </a:prstGeom>
        </p:spPr>
        <p:txBody>
          <a:bodyPr anchor="t" rtlCol="false" tIns="0" lIns="0" bIns="0" rIns="0">
            <a:spAutoFit/>
          </a:bodyPr>
          <a:lstStyle/>
          <a:p>
            <a:pPr algn="ctr">
              <a:lnSpc>
                <a:spcPts val="8492"/>
              </a:lnSpc>
            </a:pPr>
            <a:r>
              <a:rPr lang="en-US" sz="10615">
                <a:solidFill>
                  <a:srgbClr val="000000"/>
                </a:solidFill>
                <a:latin typeface="Araboto"/>
                <a:ea typeface="Araboto"/>
                <a:cs typeface="Araboto"/>
                <a:sym typeface="Araboto"/>
              </a:rPr>
              <a:t>AGENDA</a:t>
            </a:r>
          </a:p>
        </p:txBody>
      </p:sp>
      <p:sp>
        <p:nvSpPr>
          <p:cNvPr name="Freeform 7" id="7"/>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380846" y="2820684"/>
            <a:ext cx="15526309" cy="4771390"/>
          </a:xfrm>
          <a:prstGeom prst="rect">
            <a:avLst/>
          </a:prstGeom>
        </p:spPr>
        <p:txBody>
          <a:bodyPr anchor="t" rtlCol="false" tIns="0" lIns="0" bIns="0" rIns="0">
            <a:spAutoFit/>
          </a:bodyPr>
          <a:lstStyle/>
          <a:p>
            <a:pPr algn="just">
              <a:lnSpc>
                <a:spcPts val="4759"/>
              </a:lnSpc>
            </a:pPr>
            <a:r>
              <a:rPr lang="en-US" sz="3399">
                <a:solidFill>
                  <a:srgbClr val="000000"/>
                </a:solidFill>
                <a:latin typeface="XM Yekan"/>
                <a:ea typeface="XM Yekan"/>
                <a:cs typeface="XM Yekan"/>
                <a:sym typeface="XM Yekan"/>
              </a:rPr>
              <a:t>This internship provided hands-on experience in building real-world Machine Learning solutions for business analytics.The work focused on understanding end-to-end ML workflows—from data collection and cleaning to model development, evaluation, and visualization.Through two major projects, the internship strengthened skills in Python programming, data preprocessing, predictive modeling, and interpreting model outputs for business decision-making. The experience demonstrated how ML can be used to forecast future trends, identify customer risks, and support strategic planning across industries.</a:t>
            </a:r>
          </a:p>
        </p:txBody>
      </p:sp>
      <p:sp>
        <p:nvSpPr>
          <p:cNvPr name="Freeform 6" id="6"/>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3221017" y="1470947"/>
            <a:ext cx="11845965" cy="1406887"/>
          </a:xfrm>
          <a:prstGeom prst="rect">
            <a:avLst/>
          </a:prstGeom>
        </p:spPr>
        <p:txBody>
          <a:bodyPr anchor="t" rtlCol="false" tIns="0" lIns="0" bIns="0" rIns="0">
            <a:spAutoFit/>
          </a:bodyPr>
          <a:lstStyle/>
          <a:p>
            <a:pPr algn="ctr">
              <a:lnSpc>
                <a:spcPts val="6714"/>
              </a:lnSpc>
            </a:pPr>
            <a:r>
              <a:rPr lang="en-US" sz="6714">
                <a:solidFill>
                  <a:srgbClr val="000000"/>
                </a:solidFill>
                <a:latin typeface="XM Yekan"/>
                <a:ea typeface="XM Yekan"/>
                <a:cs typeface="XM Yekan"/>
                <a:sym typeface="XM Yekan"/>
              </a:rPr>
              <a:t>INTERNSHIP OVERVIEW</a:t>
            </a:r>
          </a:p>
          <a:p>
            <a:pPr algn="ctr">
              <a:lnSpc>
                <a:spcPts val="4314"/>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823292" y="1257300"/>
            <a:ext cx="14641416" cy="1660524"/>
          </a:xfrm>
          <a:prstGeom prst="rect">
            <a:avLst/>
          </a:prstGeom>
        </p:spPr>
        <p:txBody>
          <a:bodyPr anchor="t" rtlCol="false" tIns="0" lIns="0" bIns="0" rIns="0">
            <a:spAutoFit/>
          </a:bodyPr>
          <a:lstStyle/>
          <a:p>
            <a:pPr algn="ctr">
              <a:lnSpc>
                <a:spcPts val="4799"/>
              </a:lnSpc>
            </a:pPr>
            <a:r>
              <a:rPr lang="en-US" b="true" sz="5999">
                <a:solidFill>
                  <a:srgbClr val="000000"/>
                </a:solidFill>
                <a:latin typeface="XM Yekan Bold"/>
                <a:ea typeface="XM Yekan Bold"/>
                <a:cs typeface="XM Yekan Bold"/>
                <a:sym typeface="XM Yekan Bold"/>
              </a:rPr>
              <a:t>INTRODUCTION TO TASK 1</a:t>
            </a:r>
          </a:p>
          <a:p>
            <a:pPr algn="ctr">
              <a:lnSpc>
                <a:spcPts val="4000"/>
              </a:lnSpc>
            </a:pPr>
          </a:p>
          <a:p>
            <a:pPr algn="ctr">
              <a:lnSpc>
                <a:spcPts val="4000"/>
              </a:lnSpc>
            </a:pPr>
            <a:r>
              <a:rPr lang="en-US" sz="5000">
                <a:solidFill>
                  <a:srgbClr val="000000"/>
                </a:solidFill>
                <a:latin typeface="XM Yekan"/>
                <a:ea typeface="XM Yekan"/>
                <a:cs typeface="XM Yekan"/>
                <a:sym typeface="XM Yekan"/>
              </a:rPr>
              <a:t>AI POWERED SALES FORCASTING DASHBOARD</a:t>
            </a:r>
          </a:p>
        </p:txBody>
      </p:sp>
      <p:sp>
        <p:nvSpPr>
          <p:cNvPr name="TextBox 12" id="12"/>
          <p:cNvSpPr txBox="true"/>
          <p:nvPr/>
        </p:nvSpPr>
        <p:spPr>
          <a:xfrm rot="0">
            <a:off x="1599790" y="3222624"/>
            <a:ext cx="15088420" cy="5424297"/>
          </a:xfrm>
          <a:prstGeom prst="rect">
            <a:avLst/>
          </a:prstGeom>
        </p:spPr>
        <p:txBody>
          <a:bodyPr anchor="t" rtlCol="false" tIns="0" lIns="0" bIns="0" rIns="0">
            <a:spAutoFit/>
          </a:bodyPr>
          <a:lstStyle/>
          <a:p>
            <a:pPr algn="just">
              <a:lnSpc>
                <a:spcPts val="4759"/>
              </a:lnSpc>
            </a:pPr>
            <a:r>
              <a:rPr lang="en-US" sz="3399">
                <a:solidFill>
                  <a:srgbClr val="000000"/>
                </a:solidFill>
                <a:latin typeface="XM Yekan"/>
                <a:ea typeface="XM Yekan"/>
                <a:cs typeface="XM Yekan"/>
                <a:sym typeface="XM Yekan"/>
              </a:rPr>
              <a:t>This internship provided hands-on experience in building real-world Machine Learning s</a:t>
            </a:r>
            <a:r>
              <a:rPr lang="en-US" sz="3399">
                <a:solidFill>
                  <a:srgbClr val="000000"/>
                </a:solidFill>
                <a:latin typeface="XM Yekan"/>
                <a:ea typeface="XM Yekan"/>
                <a:cs typeface="XM Yekan"/>
                <a:sym typeface="XM Yekan"/>
              </a:rPr>
              <a:t>olutions for business analytics. The work focused on understanding end-to-end ML workflows—from data collection and cleaning to model development, evaluation, and visualization. Through two major projects, the internship strengthened skills in Python programming, data preprocessing, predictive modeling, and interpreting model outputs for business decision-making. The experience demonstrated how ML can be used to forecast future trends, identify customer risks, and support strategic planning across industries.</a:t>
            </a:r>
          </a:p>
          <a:p>
            <a:pPr algn="just">
              <a:lnSpc>
                <a:spcPts val="5236"/>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643265" y="3173073"/>
            <a:ext cx="15391503" cy="4771390"/>
          </a:xfrm>
          <a:prstGeom prst="rect">
            <a:avLst/>
          </a:prstGeom>
        </p:spPr>
        <p:txBody>
          <a:bodyPr anchor="t" rtlCol="false" tIns="0" lIns="0" bIns="0" rIns="0">
            <a:spAutoFit/>
          </a:bodyPr>
          <a:lstStyle/>
          <a:p>
            <a:pPr algn="just">
              <a:lnSpc>
                <a:spcPts val="4759"/>
              </a:lnSpc>
            </a:pPr>
            <a:r>
              <a:rPr lang="en-US" sz="3399">
                <a:solidFill>
                  <a:srgbClr val="000000"/>
                </a:solidFill>
                <a:latin typeface="XM Yekan"/>
                <a:ea typeface="XM Yekan"/>
                <a:cs typeface="XM Yekan"/>
                <a:sym typeface="XM Yekan"/>
              </a:rPr>
              <a:t>Task 2 focused on developing a machine learning model that predicts which customers are likely to discontinue a service. Using an industry-standard churn dataset, the project involved cleaning and encoding customer attributes, engineering features such as contract type and monthly charges, and training an XGBoost classifier. The model outputs were interpreted through churn probability scores, feature importance metrics, and visual dashboards. This task demonstrated how organizations can use ML to improve customer retention, reduce revenue loss, and understand the key factors driving churn.</a:t>
            </a:r>
          </a:p>
        </p:txBody>
      </p:sp>
      <p:sp>
        <p:nvSpPr>
          <p:cNvPr name="Freeform 6" id="6"/>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2500186" y="1287160"/>
            <a:ext cx="13287628" cy="1426845"/>
          </a:xfrm>
          <a:prstGeom prst="rect">
            <a:avLst/>
          </a:prstGeom>
        </p:spPr>
        <p:txBody>
          <a:bodyPr anchor="t" rtlCol="false" tIns="0" lIns="0" bIns="0" rIns="0">
            <a:spAutoFit/>
          </a:bodyPr>
          <a:lstStyle/>
          <a:p>
            <a:pPr algn="ctr">
              <a:lnSpc>
                <a:spcPts val="3779"/>
              </a:lnSpc>
            </a:pPr>
            <a:r>
              <a:rPr lang="en-US" b="true" sz="6000">
                <a:solidFill>
                  <a:srgbClr val="000000"/>
                </a:solidFill>
                <a:latin typeface="XM Yekan Bold"/>
                <a:ea typeface="XM Yekan Bold"/>
                <a:cs typeface="XM Yekan Bold"/>
                <a:sym typeface="XM Yekan Bold"/>
              </a:rPr>
              <a:t>INTRODUCTION TO TASK 2</a:t>
            </a:r>
          </a:p>
          <a:p>
            <a:pPr algn="ctr">
              <a:lnSpc>
                <a:spcPts val="3779"/>
              </a:lnSpc>
            </a:pPr>
          </a:p>
          <a:p>
            <a:pPr algn="ctr">
              <a:lnSpc>
                <a:spcPts val="3150"/>
              </a:lnSpc>
            </a:pPr>
            <a:r>
              <a:rPr lang="en-US" sz="5000">
                <a:solidFill>
                  <a:srgbClr val="000000"/>
                </a:solidFill>
                <a:latin typeface="XM Yekan"/>
                <a:ea typeface="XM Yekan"/>
                <a:cs typeface="XM Yekan"/>
                <a:sym typeface="XM Yekan"/>
              </a:rPr>
              <a:t>CUSTOMER CHURN PREDICTION SYSTEM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6000">
            <a:off x="3332623" y="1306180"/>
            <a:ext cx="11690013" cy="8095732"/>
          </a:xfrm>
          <a:custGeom>
            <a:avLst/>
            <a:gdLst/>
            <a:ahLst/>
            <a:cxnLst/>
            <a:rect r="r" b="b" t="t" l="l"/>
            <a:pathLst>
              <a:path h="8095732" w="11690013">
                <a:moveTo>
                  <a:pt x="0" y="20378"/>
                </a:moveTo>
                <a:lnTo>
                  <a:pt x="11675920" y="0"/>
                </a:lnTo>
                <a:lnTo>
                  <a:pt x="11690014" y="8075354"/>
                </a:lnTo>
                <a:lnTo>
                  <a:pt x="14095" y="8095732"/>
                </a:lnTo>
                <a:lnTo>
                  <a:pt x="0" y="20378"/>
                </a:lnTo>
                <a:close/>
              </a:path>
            </a:pathLst>
          </a:custGeom>
          <a:blipFill>
            <a:blip r:embed="rId8"/>
            <a:stretch>
              <a:fillRect l="-34599" t="-32036" r="-37881" b="-7990"/>
            </a:stretch>
          </a:blipFill>
        </p:spPr>
      </p:sp>
      <p:sp>
        <p:nvSpPr>
          <p:cNvPr name="TextBox 12" id="12"/>
          <p:cNvSpPr txBox="true"/>
          <p:nvPr/>
        </p:nvSpPr>
        <p:spPr>
          <a:xfrm rot="0">
            <a:off x="5139451" y="495754"/>
            <a:ext cx="8009098" cy="1151618"/>
          </a:xfrm>
          <a:prstGeom prst="rect">
            <a:avLst/>
          </a:prstGeom>
        </p:spPr>
        <p:txBody>
          <a:bodyPr anchor="t" rtlCol="false" tIns="0" lIns="0" bIns="0" rIns="0">
            <a:spAutoFit/>
          </a:bodyPr>
          <a:lstStyle/>
          <a:p>
            <a:pPr algn="ctr">
              <a:lnSpc>
                <a:spcPts val="4614"/>
              </a:lnSpc>
            </a:pPr>
            <a:r>
              <a:rPr lang="en-US" sz="4614" b="true">
                <a:solidFill>
                  <a:srgbClr val="000000"/>
                </a:solidFill>
                <a:latin typeface="XM Yekan Bold"/>
                <a:ea typeface="XM Yekan Bold"/>
                <a:cs typeface="XM Yekan Bold"/>
                <a:sym typeface="XM Yekan Bold"/>
              </a:rPr>
              <a:t>INTERNSHIP CERTIFICATE</a:t>
            </a:r>
          </a:p>
          <a:p>
            <a:pPr algn="ctr">
              <a:lnSpc>
                <a:spcPts val="4314"/>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3161787" y="2698268"/>
            <a:ext cx="11964426" cy="1244601"/>
          </a:xfrm>
          <a:prstGeom prst="rect">
            <a:avLst/>
          </a:prstGeom>
        </p:spPr>
        <p:txBody>
          <a:bodyPr anchor="t" rtlCol="false" tIns="0" lIns="0" bIns="0" rIns="0">
            <a:spAutoFit/>
          </a:bodyPr>
          <a:lstStyle/>
          <a:p>
            <a:pPr algn="ctr">
              <a:lnSpc>
                <a:spcPts val="7600"/>
              </a:lnSpc>
            </a:pPr>
            <a:r>
              <a:rPr lang="en-US" b="true" sz="9500">
                <a:solidFill>
                  <a:srgbClr val="000000"/>
                </a:solidFill>
                <a:latin typeface="Araboto Bold"/>
                <a:ea typeface="Araboto Bold"/>
                <a:cs typeface="Araboto Bold"/>
                <a:sym typeface="Araboto Bold"/>
              </a:rPr>
              <a:t>TASK 1</a:t>
            </a:r>
          </a:p>
        </p:txBody>
      </p:sp>
      <p:sp>
        <p:nvSpPr>
          <p:cNvPr name="Freeform 6" id="6"/>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779920" y="4219118"/>
            <a:ext cx="14728159" cy="2316024"/>
          </a:xfrm>
          <a:prstGeom prst="rect">
            <a:avLst/>
          </a:prstGeom>
        </p:spPr>
        <p:txBody>
          <a:bodyPr anchor="t" rtlCol="false" tIns="0" lIns="0" bIns="0" rIns="0">
            <a:spAutoFit/>
          </a:bodyPr>
          <a:lstStyle/>
          <a:p>
            <a:pPr algn="ctr">
              <a:lnSpc>
                <a:spcPts val="9370"/>
              </a:lnSpc>
            </a:pPr>
            <a:r>
              <a:rPr lang="en-US" sz="6692">
                <a:solidFill>
                  <a:srgbClr val="124D3E"/>
                </a:solidFill>
                <a:latin typeface="XM Yekan"/>
                <a:ea typeface="XM Yekan"/>
                <a:cs typeface="XM Yekan"/>
                <a:sym typeface="XM Yekan"/>
              </a:rPr>
              <a:t>AI POWERED SALES FORCASTING DASHBOARD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603007" y="1330733"/>
            <a:ext cx="17081985" cy="8791575"/>
          </a:xfrm>
          <a:prstGeom prst="rect">
            <a:avLst/>
          </a:prstGeom>
        </p:spPr>
        <p:txBody>
          <a:bodyPr anchor="t" rtlCol="false" tIns="0" lIns="0" bIns="0" rIns="0">
            <a:spAutoFit/>
          </a:bodyPr>
          <a:lstStyle/>
          <a:p>
            <a:pPr algn="l">
              <a:lnSpc>
                <a:spcPts val="3000"/>
              </a:lnSpc>
            </a:pPr>
            <a:r>
              <a:rPr lang="en-US" sz="3000" b="true">
                <a:solidFill>
                  <a:srgbClr val="000000"/>
                </a:solidFill>
                <a:latin typeface="XM Yekan Bold"/>
                <a:ea typeface="XM Yekan Bold"/>
                <a:cs typeface="XM Yekan Bold"/>
                <a:sym typeface="XM Yekan Bold"/>
              </a:rPr>
              <a:t>1. Python Programming Language:</a:t>
            </a:r>
          </a:p>
          <a:p>
            <a:pPr algn="l" marL="647700" indent="-323850" lvl="1">
              <a:lnSpc>
                <a:spcPts val="3000"/>
              </a:lnSpc>
              <a:buFont typeface="Arial"/>
              <a:buChar char="•"/>
            </a:pPr>
            <a:r>
              <a:rPr lang="en-US" sz="3000">
                <a:solidFill>
                  <a:srgbClr val="000000"/>
                </a:solidFill>
                <a:latin typeface="XM Yekan"/>
                <a:ea typeface="XM Yekan"/>
                <a:cs typeface="XM Yekan"/>
                <a:sym typeface="XM Yekan"/>
              </a:rPr>
              <a:t>Used for data preprocessing, feature engineering, and developing the time-series forecasting model.</a:t>
            </a:r>
          </a:p>
          <a:p>
            <a:pPr algn="l">
              <a:lnSpc>
                <a:spcPts val="3000"/>
              </a:lnSpc>
            </a:pPr>
          </a:p>
          <a:p>
            <a:pPr algn="l">
              <a:lnSpc>
                <a:spcPts val="3000"/>
              </a:lnSpc>
            </a:pPr>
            <a:r>
              <a:rPr lang="en-US" sz="3000" b="true">
                <a:solidFill>
                  <a:srgbClr val="000000"/>
                </a:solidFill>
                <a:latin typeface="XM Yekan Bold"/>
                <a:ea typeface="XM Yekan Bold"/>
                <a:cs typeface="XM Yekan Bold"/>
                <a:sym typeface="XM Yekan Bold"/>
              </a:rPr>
              <a:t>2. Pandas &amp; NumPy:</a:t>
            </a:r>
          </a:p>
          <a:p>
            <a:pPr algn="l" marL="647700" indent="-323850" lvl="1">
              <a:lnSpc>
                <a:spcPts val="3000"/>
              </a:lnSpc>
              <a:buFont typeface="Arial"/>
              <a:buChar char="•"/>
            </a:pPr>
            <a:r>
              <a:rPr lang="en-US" sz="3000">
                <a:solidFill>
                  <a:srgbClr val="000000"/>
                </a:solidFill>
                <a:latin typeface="XM Yekan"/>
                <a:ea typeface="XM Yekan"/>
                <a:cs typeface="XM Yekan"/>
                <a:sym typeface="XM Yekan"/>
              </a:rPr>
              <a:t>Data cleaning, transformation, and aggregation</a:t>
            </a:r>
          </a:p>
          <a:p>
            <a:pPr algn="l" marL="647700" indent="-323850" lvl="1">
              <a:lnSpc>
                <a:spcPts val="3000"/>
              </a:lnSpc>
              <a:buFont typeface="Arial"/>
              <a:buChar char="•"/>
            </a:pPr>
            <a:r>
              <a:rPr lang="en-US" sz="3000">
                <a:solidFill>
                  <a:srgbClr val="000000"/>
                </a:solidFill>
                <a:latin typeface="XM Yekan"/>
                <a:ea typeface="XM Yekan"/>
                <a:cs typeface="XM Yekan"/>
                <a:sym typeface="XM Yekan"/>
              </a:rPr>
              <a:t> Handling date-time formats</a:t>
            </a:r>
          </a:p>
          <a:p>
            <a:pPr algn="l">
              <a:lnSpc>
                <a:spcPts val="3000"/>
              </a:lnSpc>
            </a:pPr>
          </a:p>
          <a:p>
            <a:pPr algn="l">
              <a:lnSpc>
                <a:spcPts val="3000"/>
              </a:lnSpc>
            </a:pPr>
            <a:r>
              <a:rPr lang="en-US" sz="3000" b="true">
                <a:solidFill>
                  <a:srgbClr val="000000"/>
                </a:solidFill>
                <a:latin typeface="XM Yekan Bold"/>
                <a:ea typeface="XM Yekan Bold"/>
                <a:cs typeface="XM Yekan Bold"/>
                <a:sym typeface="XM Yekan Bold"/>
              </a:rPr>
              <a:t>3. Prophet (Prophet):</a:t>
            </a:r>
          </a:p>
          <a:p>
            <a:pPr algn="l" marL="647700" indent="-323850" lvl="1">
              <a:lnSpc>
                <a:spcPts val="3000"/>
              </a:lnSpc>
              <a:buFont typeface="Arial"/>
              <a:buChar char="•"/>
            </a:pPr>
            <a:r>
              <a:rPr lang="en-US" sz="3000">
                <a:solidFill>
                  <a:srgbClr val="000000"/>
                </a:solidFill>
                <a:latin typeface="XM Yekan"/>
                <a:ea typeface="XM Yekan"/>
                <a:cs typeface="XM Yekan"/>
                <a:sym typeface="XM Yekan"/>
              </a:rPr>
              <a:t>Core forecasting algorithm used in the project</a:t>
            </a:r>
          </a:p>
          <a:p>
            <a:pPr algn="l" marL="647700" indent="-323850" lvl="1">
              <a:lnSpc>
                <a:spcPts val="3000"/>
              </a:lnSpc>
              <a:buFont typeface="Arial"/>
              <a:buChar char="•"/>
            </a:pPr>
            <a:r>
              <a:rPr lang="en-US" sz="3000">
                <a:solidFill>
                  <a:srgbClr val="000000"/>
                </a:solidFill>
                <a:latin typeface="XM Yekan"/>
                <a:ea typeface="XM Yekan"/>
                <a:cs typeface="XM Yekan"/>
                <a:sym typeface="XM Yekan"/>
              </a:rPr>
              <a:t> Generates predicted sales values (yhat)</a:t>
            </a:r>
          </a:p>
          <a:p>
            <a:pPr algn="l" marL="647700" indent="-323850" lvl="1">
              <a:lnSpc>
                <a:spcPts val="3000"/>
              </a:lnSpc>
              <a:buFont typeface="Arial"/>
              <a:buChar char="•"/>
            </a:pPr>
            <a:r>
              <a:rPr lang="en-US" sz="3000">
                <a:solidFill>
                  <a:srgbClr val="000000"/>
                </a:solidFill>
                <a:latin typeface="XM Yekan"/>
                <a:ea typeface="XM Yekan"/>
                <a:cs typeface="XM Yekan"/>
                <a:sym typeface="XM Yekan"/>
              </a:rPr>
              <a:t> Handles seasonality and trend modeling automatically</a:t>
            </a:r>
          </a:p>
          <a:p>
            <a:pPr algn="l">
              <a:lnSpc>
                <a:spcPts val="3000"/>
              </a:lnSpc>
            </a:pPr>
          </a:p>
          <a:p>
            <a:pPr algn="l">
              <a:lnSpc>
                <a:spcPts val="3000"/>
              </a:lnSpc>
            </a:pPr>
            <a:r>
              <a:rPr lang="en-US" sz="3000" b="true">
                <a:solidFill>
                  <a:srgbClr val="000000"/>
                </a:solidFill>
                <a:latin typeface="XM Yekan Bold"/>
                <a:ea typeface="XM Yekan Bold"/>
                <a:cs typeface="XM Yekan Bold"/>
                <a:sym typeface="XM Yekan Bold"/>
              </a:rPr>
              <a:t>4. Jupyter Notebook / Google Colab:</a:t>
            </a:r>
          </a:p>
          <a:p>
            <a:pPr algn="l" marL="647700" indent="-323850" lvl="1">
              <a:lnSpc>
                <a:spcPts val="3000"/>
              </a:lnSpc>
              <a:buFont typeface="Arial"/>
              <a:buChar char="•"/>
            </a:pPr>
            <a:r>
              <a:rPr lang="en-US" sz="3000">
                <a:solidFill>
                  <a:srgbClr val="000000"/>
                </a:solidFill>
                <a:latin typeface="XM Yekan"/>
                <a:ea typeface="XM Yekan"/>
                <a:cs typeface="XM Yekan"/>
                <a:sym typeface="XM Yekan"/>
              </a:rPr>
              <a:t> Environment for writing and executing the ML code</a:t>
            </a:r>
          </a:p>
          <a:p>
            <a:pPr algn="l" marL="647700" indent="-323850" lvl="1">
              <a:lnSpc>
                <a:spcPts val="3000"/>
              </a:lnSpc>
              <a:buFont typeface="Arial"/>
              <a:buChar char="•"/>
            </a:pPr>
            <a:r>
              <a:rPr lang="en-US" sz="3000">
                <a:solidFill>
                  <a:srgbClr val="000000"/>
                </a:solidFill>
                <a:latin typeface="XM Yekan"/>
                <a:ea typeface="XM Yekan"/>
                <a:cs typeface="XM Yekan"/>
                <a:sym typeface="XM Yekan"/>
              </a:rPr>
              <a:t> Used for EDA, model training, and generating final forecast results</a:t>
            </a:r>
          </a:p>
          <a:p>
            <a:pPr algn="l">
              <a:lnSpc>
                <a:spcPts val="3000"/>
              </a:lnSpc>
            </a:pPr>
          </a:p>
          <a:p>
            <a:pPr algn="l">
              <a:lnSpc>
                <a:spcPts val="3000"/>
              </a:lnSpc>
            </a:pPr>
            <a:r>
              <a:rPr lang="en-US" sz="3000" b="true">
                <a:solidFill>
                  <a:srgbClr val="000000"/>
                </a:solidFill>
                <a:latin typeface="XM Yekan Bold"/>
                <a:ea typeface="XM Yekan Bold"/>
                <a:cs typeface="XM Yekan Bold"/>
                <a:sym typeface="XM Yekan Bold"/>
              </a:rPr>
              <a:t>5. Microsoft Power BI Desktop:</a:t>
            </a:r>
          </a:p>
          <a:p>
            <a:pPr algn="l" marL="647700" indent="-323850" lvl="1">
              <a:lnSpc>
                <a:spcPts val="3000"/>
              </a:lnSpc>
              <a:buFont typeface="Arial"/>
              <a:buChar char="•"/>
            </a:pPr>
            <a:r>
              <a:rPr lang="en-US" sz="3000">
                <a:solidFill>
                  <a:srgbClr val="000000"/>
                </a:solidFill>
                <a:latin typeface="XM Yekan"/>
                <a:ea typeface="XM Yekan"/>
                <a:cs typeface="XM Yekan"/>
                <a:sym typeface="XM Yekan"/>
              </a:rPr>
              <a:t> Dashboard creation and visualization</a:t>
            </a:r>
          </a:p>
          <a:p>
            <a:pPr algn="l" marL="647700" indent="-323850" lvl="1">
              <a:lnSpc>
                <a:spcPts val="3000"/>
              </a:lnSpc>
              <a:buFont typeface="Arial"/>
              <a:buChar char="•"/>
            </a:pPr>
            <a:r>
              <a:rPr lang="en-US" sz="3000">
                <a:solidFill>
                  <a:srgbClr val="000000"/>
                </a:solidFill>
                <a:latin typeface="XM Yekan"/>
                <a:ea typeface="XM Yekan"/>
                <a:cs typeface="XM Yekan"/>
                <a:sym typeface="XM Yekan"/>
              </a:rPr>
              <a:t> Importing forecast output and actual sales</a:t>
            </a:r>
          </a:p>
          <a:p>
            <a:pPr algn="l">
              <a:lnSpc>
                <a:spcPts val="3000"/>
              </a:lnSpc>
              <a:spcBef>
                <a:spcPct val="0"/>
              </a:spcBef>
            </a:pPr>
          </a:p>
          <a:p>
            <a:pPr algn="l">
              <a:lnSpc>
                <a:spcPts val="3000"/>
              </a:lnSpc>
              <a:spcBef>
                <a:spcPct val="0"/>
              </a:spcBef>
            </a:pPr>
          </a:p>
          <a:p>
            <a:pPr algn="l">
              <a:lnSpc>
                <a:spcPts val="3000"/>
              </a:lnSpc>
              <a:spcBef>
                <a:spcPct val="0"/>
              </a:spcBef>
            </a:pPr>
          </a:p>
        </p:txBody>
      </p:sp>
      <p:sp>
        <p:nvSpPr>
          <p:cNvPr name="TextBox 6" id="6"/>
          <p:cNvSpPr txBox="true"/>
          <p:nvPr/>
        </p:nvSpPr>
        <p:spPr>
          <a:xfrm rot="0">
            <a:off x="4979045" y="473483"/>
            <a:ext cx="8329910" cy="809625"/>
          </a:xfrm>
          <a:prstGeom prst="rect">
            <a:avLst/>
          </a:prstGeom>
        </p:spPr>
        <p:txBody>
          <a:bodyPr anchor="t" rtlCol="false" tIns="0" lIns="0" bIns="0" rIns="0">
            <a:spAutoFit/>
          </a:bodyPr>
          <a:lstStyle/>
          <a:p>
            <a:pPr algn="ctr">
              <a:lnSpc>
                <a:spcPts val="6000"/>
              </a:lnSpc>
              <a:spcBef>
                <a:spcPct val="0"/>
              </a:spcBef>
            </a:pPr>
            <a:r>
              <a:rPr lang="en-US" b="true" sz="6000">
                <a:solidFill>
                  <a:srgbClr val="000000"/>
                </a:solidFill>
                <a:latin typeface="XM Yekan Bold"/>
                <a:ea typeface="XM Yekan Bold"/>
                <a:cs typeface="XM Yekan Bold"/>
                <a:sym typeface="XM Yekan Bold"/>
              </a:rPr>
              <a:t>TECHNOLOGIES USED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3742895" y="488751"/>
            <a:ext cx="10802210" cy="794616"/>
          </a:xfrm>
          <a:prstGeom prst="rect">
            <a:avLst/>
          </a:prstGeom>
        </p:spPr>
        <p:txBody>
          <a:bodyPr anchor="t" rtlCol="false" tIns="0" lIns="0" bIns="0" rIns="0">
            <a:spAutoFit/>
          </a:bodyPr>
          <a:lstStyle/>
          <a:p>
            <a:pPr algn="ctr">
              <a:lnSpc>
                <a:spcPts val="5613"/>
              </a:lnSpc>
            </a:pPr>
            <a:r>
              <a:rPr lang="en-US" b="true" sz="7017">
                <a:solidFill>
                  <a:srgbClr val="000000"/>
                </a:solidFill>
                <a:latin typeface="XM Yekan Bold"/>
                <a:ea typeface="XM Yekan Bold"/>
                <a:cs typeface="XM Yekan Bold"/>
                <a:sym typeface="XM Yekan Bold"/>
              </a:rPr>
              <a:t>KEY FEATURES</a:t>
            </a:r>
          </a:p>
        </p:txBody>
      </p:sp>
      <p:sp>
        <p:nvSpPr>
          <p:cNvPr name="TextBox 6" id="6"/>
          <p:cNvSpPr txBox="true"/>
          <p:nvPr/>
        </p:nvSpPr>
        <p:spPr>
          <a:xfrm rot="0">
            <a:off x="1816312" y="1302417"/>
            <a:ext cx="14990290" cy="9456573"/>
          </a:xfrm>
          <a:prstGeom prst="rect">
            <a:avLst/>
          </a:prstGeom>
        </p:spPr>
        <p:txBody>
          <a:bodyPr anchor="t" rtlCol="false" tIns="0" lIns="0" bIns="0" rIns="0">
            <a:spAutoFit/>
          </a:bodyPr>
          <a:lstStyle/>
          <a:p>
            <a:pPr algn="just">
              <a:lnSpc>
                <a:spcPts val="3979"/>
              </a:lnSpc>
            </a:pPr>
            <a:r>
              <a:rPr lang="en-US" b="true" sz="2842">
                <a:solidFill>
                  <a:srgbClr val="000000"/>
                </a:solidFill>
                <a:latin typeface="XM Yekan Bold"/>
                <a:ea typeface="XM Yekan Bold"/>
                <a:cs typeface="XM Yekan Bold"/>
                <a:sym typeface="XM Yekan Bold"/>
              </a:rPr>
              <a:t>1. Actual vs F</a:t>
            </a:r>
            <a:r>
              <a:rPr lang="en-US" b="true" sz="2842">
                <a:solidFill>
                  <a:srgbClr val="000000"/>
                </a:solidFill>
                <a:latin typeface="XM Yekan Bold"/>
                <a:ea typeface="XM Yekan Bold"/>
                <a:cs typeface="XM Yekan Bold"/>
                <a:sym typeface="XM Yekan Bold"/>
              </a:rPr>
              <a:t>orecasted Sales Visualization</a:t>
            </a:r>
          </a:p>
          <a:p>
            <a:pPr algn="just">
              <a:lnSpc>
                <a:spcPts val="3979"/>
              </a:lnSpc>
            </a:pPr>
            <a:r>
              <a:rPr lang="en-US" sz="2842">
                <a:solidFill>
                  <a:srgbClr val="000000"/>
                </a:solidFill>
                <a:latin typeface="XM Yekan"/>
                <a:ea typeface="XM Yekan"/>
                <a:cs typeface="XM Yekan"/>
                <a:sym typeface="XM Yekan"/>
              </a:rPr>
              <a:t>Displays historical sales alongside Prophet model predictions, allowing users to compare past performance with future trends.</a:t>
            </a:r>
          </a:p>
          <a:p>
            <a:pPr algn="just">
              <a:lnSpc>
                <a:spcPts val="3979"/>
              </a:lnSpc>
            </a:pPr>
          </a:p>
          <a:p>
            <a:pPr algn="just">
              <a:lnSpc>
                <a:spcPts val="3979"/>
              </a:lnSpc>
            </a:pPr>
            <a:r>
              <a:rPr lang="en-US" b="true" sz="2842">
                <a:solidFill>
                  <a:srgbClr val="000000"/>
                </a:solidFill>
                <a:latin typeface="XM Yekan Bold"/>
                <a:ea typeface="XM Yekan Bold"/>
                <a:cs typeface="XM Yekan Bold"/>
                <a:sym typeface="XM Yekan Bold"/>
              </a:rPr>
              <a:t>2. Confidence Interval Forecast Band</a:t>
            </a:r>
          </a:p>
          <a:p>
            <a:pPr algn="just">
              <a:lnSpc>
                <a:spcPts val="3979"/>
              </a:lnSpc>
            </a:pPr>
            <a:r>
              <a:rPr lang="en-US" sz="2842">
                <a:solidFill>
                  <a:srgbClr val="000000"/>
                </a:solidFill>
                <a:latin typeface="XM Yekan"/>
                <a:ea typeface="XM Yekan"/>
                <a:cs typeface="XM Yekan"/>
                <a:sym typeface="XM Yekan"/>
              </a:rPr>
              <a:t>Shows upper and lower prediction limits, helping businesses understand possible best-case and worst-case sales scenarios.</a:t>
            </a:r>
          </a:p>
          <a:p>
            <a:pPr algn="just">
              <a:lnSpc>
                <a:spcPts val="3979"/>
              </a:lnSpc>
            </a:pPr>
          </a:p>
          <a:p>
            <a:pPr algn="just">
              <a:lnSpc>
                <a:spcPts val="3979"/>
              </a:lnSpc>
            </a:pPr>
            <a:r>
              <a:rPr lang="en-US" b="true" sz="2842">
                <a:solidFill>
                  <a:srgbClr val="000000"/>
                </a:solidFill>
                <a:latin typeface="XM Yekan Bold"/>
                <a:ea typeface="XM Yekan Bold"/>
                <a:cs typeface="XM Yekan Bold"/>
                <a:sym typeface="XM Yekan Bold"/>
              </a:rPr>
              <a:t>3. KPI Cards for Quick Insights</a:t>
            </a:r>
          </a:p>
          <a:p>
            <a:pPr algn="just">
              <a:lnSpc>
                <a:spcPts val="3979"/>
              </a:lnSpc>
            </a:pPr>
            <a:r>
              <a:rPr lang="en-US" b="true" sz="2842">
                <a:solidFill>
                  <a:srgbClr val="000000"/>
                </a:solidFill>
                <a:latin typeface="XM Yekan Bold"/>
                <a:ea typeface="XM Yekan Bold"/>
                <a:cs typeface="XM Yekan Bold"/>
                <a:sym typeface="XM Yekan Bold"/>
              </a:rPr>
              <a:t>• Total Sales</a:t>
            </a:r>
          </a:p>
          <a:p>
            <a:pPr algn="just">
              <a:lnSpc>
                <a:spcPts val="3979"/>
              </a:lnSpc>
            </a:pPr>
            <a:r>
              <a:rPr lang="en-US" b="true" sz="2842">
                <a:solidFill>
                  <a:srgbClr val="000000"/>
                </a:solidFill>
                <a:latin typeface="XM Yekan Bold"/>
                <a:ea typeface="XM Yekan Bold"/>
                <a:cs typeface="XM Yekan Bold"/>
                <a:sym typeface="XM Yekan Bold"/>
              </a:rPr>
              <a:t> • Total Profit</a:t>
            </a:r>
          </a:p>
          <a:p>
            <a:pPr algn="just">
              <a:lnSpc>
                <a:spcPts val="3979"/>
              </a:lnSpc>
            </a:pPr>
            <a:r>
              <a:rPr lang="en-US" b="true" sz="2842">
                <a:solidFill>
                  <a:srgbClr val="000000"/>
                </a:solidFill>
                <a:latin typeface="XM Yekan Bold"/>
                <a:ea typeface="XM Yekan Bold"/>
                <a:cs typeface="XM Yekan Bold"/>
                <a:sym typeface="XM Yekan Bold"/>
              </a:rPr>
              <a:t> • Forecasted Sales</a:t>
            </a:r>
          </a:p>
          <a:p>
            <a:pPr algn="just">
              <a:lnSpc>
                <a:spcPts val="3979"/>
              </a:lnSpc>
            </a:pPr>
            <a:r>
              <a:rPr lang="en-US" b="true" sz="2842">
                <a:solidFill>
                  <a:srgbClr val="000000"/>
                </a:solidFill>
                <a:latin typeface="XM Yekan Bold"/>
                <a:ea typeface="XM Yekan Bold"/>
                <a:cs typeface="XM Yekan Bold"/>
                <a:sym typeface="XM Yekan Bold"/>
              </a:rPr>
              <a:t> • Quantity Sold</a:t>
            </a:r>
          </a:p>
          <a:p>
            <a:pPr algn="just">
              <a:lnSpc>
                <a:spcPts val="3979"/>
              </a:lnSpc>
            </a:pPr>
          </a:p>
          <a:p>
            <a:pPr algn="just">
              <a:lnSpc>
                <a:spcPts val="3979"/>
              </a:lnSpc>
            </a:pPr>
            <a:r>
              <a:rPr lang="en-US" b="true" sz="2842">
                <a:solidFill>
                  <a:srgbClr val="000000"/>
                </a:solidFill>
                <a:latin typeface="XM Yekan Bold"/>
                <a:ea typeface="XM Yekan Bold"/>
                <a:cs typeface="XM Yekan Bold"/>
                <a:sym typeface="XM Yekan Bold"/>
              </a:rPr>
              <a:t>4. Monthly and Yearly Trend Analysis:</a:t>
            </a:r>
          </a:p>
          <a:p>
            <a:pPr algn="just">
              <a:lnSpc>
                <a:spcPts val="3979"/>
              </a:lnSpc>
            </a:pPr>
            <a:r>
              <a:rPr lang="en-US" sz="2842">
                <a:solidFill>
                  <a:srgbClr val="000000"/>
                </a:solidFill>
                <a:latin typeface="XM Yekan"/>
                <a:ea typeface="XM Yekan"/>
                <a:cs typeface="XM Yekan"/>
                <a:sym typeface="XM Yekan"/>
              </a:rPr>
              <a:t>Helps identify seasonality, monthly peaks, slow periods, and long-term performance patterns.</a:t>
            </a:r>
          </a:p>
          <a:p>
            <a:pPr algn="just">
              <a:lnSpc>
                <a:spcPts val="3979"/>
              </a:lnSpc>
            </a:pPr>
          </a:p>
          <a:p>
            <a:pPr algn="just">
              <a:lnSpc>
                <a:spcPts val="3563"/>
              </a:lnSpc>
            </a:pPr>
          </a:p>
          <a:p>
            <a:pPr algn="just">
              <a:lnSpc>
                <a:spcPts val="3563"/>
              </a:lnSpc>
            </a:pPr>
          </a:p>
        </p:txBody>
      </p:sp>
      <p:sp>
        <p:nvSpPr>
          <p:cNvPr name="Freeform 7" id="7"/>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608358" y="1611221"/>
            <a:ext cx="15071284" cy="4922067"/>
          </a:xfrm>
          <a:prstGeom prst="rect">
            <a:avLst/>
          </a:prstGeom>
        </p:spPr>
        <p:txBody>
          <a:bodyPr anchor="t" rtlCol="false" tIns="0" lIns="0" bIns="0" rIns="0">
            <a:spAutoFit/>
          </a:bodyPr>
          <a:lstStyle/>
          <a:p>
            <a:pPr algn="just">
              <a:lnSpc>
                <a:spcPts val="4014"/>
              </a:lnSpc>
            </a:pPr>
          </a:p>
          <a:p>
            <a:pPr algn="just">
              <a:lnSpc>
                <a:spcPts val="4014"/>
              </a:lnSpc>
            </a:pPr>
            <a:r>
              <a:rPr lang="en-US" b="true" sz="2867">
                <a:solidFill>
                  <a:srgbClr val="000000"/>
                </a:solidFill>
                <a:latin typeface="XM Yekan Bold"/>
                <a:ea typeface="XM Yekan Bold"/>
                <a:cs typeface="XM Yekan Bold"/>
                <a:sym typeface="XM Yekan Bold"/>
              </a:rPr>
              <a:t>5. Region-Wise Sales Breakdown:</a:t>
            </a:r>
          </a:p>
          <a:p>
            <a:pPr algn="just">
              <a:lnSpc>
                <a:spcPts val="4014"/>
              </a:lnSpc>
            </a:pPr>
            <a:r>
              <a:rPr lang="en-US" sz="2867">
                <a:solidFill>
                  <a:srgbClr val="000000"/>
                </a:solidFill>
                <a:latin typeface="XM Yekan"/>
                <a:ea typeface="XM Yekan"/>
                <a:cs typeface="XM Yekan"/>
                <a:sym typeface="XM Yekan"/>
              </a:rPr>
              <a:t>Shows which regions generate the highest revenue and how regional performance changes over time.</a:t>
            </a:r>
          </a:p>
          <a:p>
            <a:pPr algn="just">
              <a:lnSpc>
                <a:spcPts val="4014"/>
              </a:lnSpc>
            </a:pPr>
          </a:p>
          <a:p>
            <a:pPr algn="just">
              <a:lnSpc>
                <a:spcPts val="4014"/>
              </a:lnSpc>
            </a:pPr>
            <a:r>
              <a:rPr lang="en-US" b="true" sz="2867">
                <a:solidFill>
                  <a:srgbClr val="000000"/>
                </a:solidFill>
                <a:latin typeface="XM Yekan Bold"/>
                <a:ea typeface="XM Yekan Bold"/>
                <a:cs typeface="XM Yekan Bold"/>
                <a:sym typeface="XM Yekan Bold"/>
              </a:rPr>
              <a:t>6. Category-Wise and Sub-Category Insights:</a:t>
            </a:r>
          </a:p>
          <a:p>
            <a:pPr algn="just">
              <a:lnSpc>
                <a:spcPts val="4014"/>
              </a:lnSpc>
            </a:pPr>
            <a:r>
              <a:rPr lang="en-US" sz="2867">
                <a:solidFill>
                  <a:srgbClr val="000000"/>
                </a:solidFill>
                <a:latin typeface="XM Yekan"/>
                <a:ea typeface="XM Yekan"/>
                <a:cs typeface="XM Yekan"/>
                <a:sym typeface="XM Yekan"/>
              </a:rPr>
              <a:t>Highlights sales and profit performance across product categories such as Furniture, Office Supplies, and Technology.</a:t>
            </a:r>
          </a:p>
          <a:p>
            <a:pPr algn="just">
              <a:lnSpc>
                <a:spcPts val="3594"/>
              </a:lnSpc>
            </a:pPr>
          </a:p>
          <a:p>
            <a:pPr algn="just">
              <a:lnSpc>
                <a:spcPts val="3594"/>
              </a:lnSpc>
            </a:pPr>
          </a:p>
        </p:txBody>
      </p:sp>
      <p:sp>
        <p:nvSpPr>
          <p:cNvPr name="Freeform 6" id="6"/>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431156" y="2296991"/>
            <a:ext cx="13425688" cy="6961309"/>
          </a:xfrm>
          <a:custGeom>
            <a:avLst/>
            <a:gdLst/>
            <a:ahLst/>
            <a:cxnLst/>
            <a:rect r="r" b="b" t="t" l="l"/>
            <a:pathLst>
              <a:path h="6961309" w="13425688">
                <a:moveTo>
                  <a:pt x="0" y="0"/>
                </a:moveTo>
                <a:lnTo>
                  <a:pt x="13425688" y="0"/>
                </a:lnTo>
                <a:lnTo>
                  <a:pt x="13425688" y="6961309"/>
                </a:lnTo>
                <a:lnTo>
                  <a:pt x="0" y="6961309"/>
                </a:lnTo>
                <a:lnTo>
                  <a:pt x="0" y="0"/>
                </a:lnTo>
                <a:close/>
              </a:path>
            </a:pathLst>
          </a:custGeom>
          <a:blipFill>
            <a:blip r:embed="rId8"/>
            <a:stretch>
              <a:fillRect l="0" t="-1258" r="0" b="-7173"/>
            </a:stretch>
          </a:blipFill>
        </p:spPr>
      </p:sp>
      <p:sp>
        <p:nvSpPr>
          <p:cNvPr name="TextBox 12" id="12"/>
          <p:cNvSpPr txBox="true"/>
          <p:nvPr/>
        </p:nvSpPr>
        <p:spPr>
          <a:xfrm rot="0">
            <a:off x="6099874" y="930272"/>
            <a:ext cx="6088253" cy="793750"/>
          </a:xfrm>
          <a:prstGeom prst="rect">
            <a:avLst/>
          </a:prstGeom>
        </p:spPr>
        <p:txBody>
          <a:bodyPr anchor="t" rtlCol="false" tIns="0" lIns="0" bIns="0" rIns="0">
            <a:spAutoFit/>
          </a:bodyPr>
          <a:lstStyle/>
          <a:p>
            <a:pPr algn="l">
              <a:lnSpc>
                <a:spcPts val="5599"/>
              </a:lnSpc>
            </a:pPr>
            <a:r>
              <a:rPr lang="en-US" b="true" sz="6999">
                <a:solidFill>
                  <a:srgbClr val="000000"/>
                </a:solidFill>
                <a:latin typeface="XM Yekan Bold"/>
                <a:ea typeface="XM Yekan Bold"/>
                <a:cs typeface="XM Yekan Bold"/>
                <a:sym typeface="XM Yekan Bold"/>
              </a:rPr>
              <a:t>DASHBOARD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210850" y="3070791"/>
            <a:ext cx="13866300" cy="5527848"/>
          </a:xfrm>
          <a:custGeom>
            <a:avLst/>
            <a:gdLst/>
            <a:ahLst/>
            <a:cxnLst/>
            <a:rect r="r" b="b" t="t" l="l"/>
            <a:pathLst>
              <a:path h="5527848" w="13866300">
                <a:moveTo>
                  <a:pt x="0" y="0"/>
                </a:moveTo>
                <a:lnTo>
                  <a:pt x="13866300" y="0"/>
                </a:lnTo>
                <a:lnTo>
                  <a:pt x="13866300" y="5527848"/>
                </a:lnTo>
                <a:lnTo>
                  <a:pt x="0" y="5527848"/>
                </a:lnTo>
                <a:lnTo>
                  <a:pt x="0" y="0"/>
                </a:lnTo>
                <a:close/>
              </a:path>
            </a:pathLst>
          </a:custGeom>
          <a:blipFill>
            <a:blip r:embed="rId8"/>
            <a:stretch>
              <a:fillRect l="-6274" t="-34103" r="-6274" b="0"/>
            </a:stretch>
          </a:blipFill>
        </p:spPr>
      </p:sp>
      <p:sp>
        <p:nvSpPr>
          <p:cNvPr name="TextBox 12" id="12"/>
          <p:cNvSpPr txBox="true"/>
          <p:nvPr/>
        </p:nvSpPr>
        <p:spPr>
          <a:xfrm rot="0">
            <a:off x="1756655" y="1304925"/>
            <a:ext cx="14774689" cy="813570"/>
          </a:xfrm>
          <a:prstGeom prst="rect">
            <a:avLst/>
          </a:prstGeom>
        </p:spPr>
        <p:txBody>
          <a:bodyPr anchor="t" rtlCol="false" tIns="0" lIns="0" bIns="0" rIns="0">
            <a:spAutoFit/>
          </a:bodyPr>
          <a:lstStyle/>
          <a:p>
            <a:pPr algn="l">
              <a:lnSpc>
                <a:spcPts val="5762"/>
              </a:lnSpc>
            </a:pPr>
            <a:r>
              <a:rPr lang="en-US" sz="7202">
                <a:solidFill>
                  <a:srgbClr val="000000"/>
                </a:solidFill>
                <a:latin typeface="XM Yekan"/>
                <a:ea typeface="XM Yekan"/>
                <a:cs typeface="XM Yekan"/>
                <a:sym typeface="XM Yekan"/>
              </a:rPr>
              <a:t>ARCHITECTURE/FLOWDIAGRAM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607306" y="2828305"/>
            <a:ext cx="15073387" cy="3577597"/>
          </a:xfrm>
          <a:prstGeom prst="rect">
            <a:avLst/>
          </a:prstGeom>
        </p:spPr>
        <p:txBody>
          <a:bodyPr anchor="t" rtlCol="false" tIns="0" lIns="0" bIns="0" rIns="0">
            <a:spAutoFit/>
          </a:bodyPr>
          <a:lstStyle/>
          <a:p>
            <a:pPr algn="ctr">
              <a:lnSpc>
                <a:spcPts val="5960"/>
              </a:lnSpc>
            </a:pPr>
            <a:r>
              <a:rPr lang="en-US" b="true" sz="7450">
                <a:solidFill>
                  <a:srgbClr val="000000"/>
                </a:solidFill>
                <a:latin typeface="XM Yekan Bold"/>
                <a:ea typeface="XM Yekan Bold"/>
                <a:cs typeface="XM Yekan Bold"/>
                <a:sym typeface="XM Yekan Bold"/>
              </a:rPr>
              <a:t>TASK 2</a:t>
            </a:r>
          </a:p>
          <a:p>
            <a:pPr algn="ctr">
              <a:lnSpc>
                <a:spcPts val="5960"/>
              </a:lnSpc>
            </a:pPr>
          </a:p>
          <a:p>
            <a:pPr algn="ctr">
              <a:lnSpc>
                <a:spcPts val="5320"/>
              </a:lnSpc>
            </a:pPr>
            <a:r>
              <a:rPr lang="en-US" sz="6650">
                <a:solidFill>
                  <a:srgbClr val="124D3E"/>
                </a:solidFill>
                <a:latin typeface="XM Yekan"/>
                <a:ea typeface="XM Yekan"/>
                <a:cs typeface="XM Yekan"/>
                <a:sym typeface="XM Yekan"/>
              </a:rPr>
              <a:t>TELECOM CUSTOMERS CHURN</a:t>
            </a:r>
          </a:p>
          <a:p>
            <a:pPr algn="ctr">
              <a:lnSpc>
                <a:spcPts val="5320"/>
              </a:lnSpc>
            </a:pPr>
          </a:p>
          <a:p>
            <a:pPr algn="ctr">
              <a:lnSpc>
                <a:spcPts val="5320"/>
              </a:lnSpc>
            </a:pPr>
            <a:r>
              <a:rPr lang="en-US" sz="6650">
                <a:solidFill>
                  <a:srgbClr val="124D3E"/>
                </a:solidFill>
                <a:latin typeface="XM Yekan"/>
                <a:ea typeface="XM Yekan"/>
                <a:cs typeface="XM Yekan"/>
                <a:sym typeface="XM Yekan"/>
              </a:rPr>
              <a:t> PREDICTION SYSTEM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5225990" y="949322"/>
            <a:ext cx="7836020" cy="803410"/>
          </a:xfrm>
          <a:prstGeom prst="rect">
            <a:avLst/>
          </a:prstGeom>
        </p:spPr>
        <p:txBody>
          <a:bodyPr anchor="t" rtlCol="false" tIns="0" lIns="0" bIns="0" rIns="0">
            <a:spAutoFit/>
          </a:bodyPr>
          <a:lstStyle/>
          <a:p>
            <a:pPr algn="l">
              <a:lnSpc>
                <a:spcPts val="5602"/>
              </a:lnSpc>
            </a:pPr>
            <a:r>
              <a:rPr lang="en-US" sz="7002">
                <a:solidFill>
                  <a:srgbClr val="000000"/>
                </a:solidFill>
                <a:latin typeface="XM Yekan"/>
                <a:ea typeface="XM Yekan"/>
                <a:cs typeface="XM Yekan"/>
                <a:sym typeface="XM Yekan"/>
              </a:rPr>
              <a:t>TECHONOLOGIES</a:t>
            </a:r>
          </a:p>
        </p:txBody>
      </p:sp>
      <p:sp>
        <p:nvSpPr>
          <p:cNvPr name="TextBox 12" id="12"/>
          <p:cNvSpPr txBox="true"/>
          <p:nvPr/>
        </p:nvSpPr>
        <p:spPr>
          <a:xfrm rot="0">
            <a:off x="1816400" y="1828811"/>
            <a:ext cx="15300818" cy="8151877"/>
          </a:xfrm>
          <a:prstGeom prst="rect">
            <a:avLst/>
          </a:prstGeom>
        </p:spPr>
        <p:txBody>
          <a:bodyPr anchor="t" rtlCol="false" tIns="0" lIns="0" bIns="0" rIns="0">
            <a:spAutoFit/>
          </a:bodyPr>
          <a:lstStyle/>
          <a:p>
            <a:pPr algn="l">
              <a:lnSpc>
                <a:spcPts val="5599"/>
              </a:lnSpc>
            </a:pPr>
            <a:r>
              <a:rPr lang="en-US" b="true" sz="3999">
                <a:solidFill>
                  <a:srgbClr val="000000"/>
                </a:solidFill>
                <a:latin typeface="XM Yekan Bold"/>
                <a:ea typeface="XM Yekan Bold"/>
                <a:cs typeface="XM Yekan Bold"/>
                <a:sym typeface="XM Yekan Bold"/>
              </a:rPr>
              <a:t>Programming &amp; Libraries</a:t>
            </a:r>
          </a:p>
          <a:p>
            <a:pPr algn="l">
              <a:lnSpc>
                <a:spcPts val="4017"/>
              </a:lnSpc>
            </a:pPr>
            <a:r>
              <a:rPr lang="en-US" b="true" sz="2869">
                <a:solidFill>
                  <a:srgbClr val="000000"/>
                </a:solidFill>
                <a:latin typeface="XM Yekan Bold"/>
                <a:ea typeface="XM Yekan Bold"/>
                <a:cs typeface="XM Yekan Bold"/>
                <a:sym typeface="XM Yekan Bold"/>
              </a:rPr>
              <a:t>•</a:t>
            </a:r>
            <a:r>
              <a:rPr lang="en-US" sz="2869">
                <a:solidFill>
                  <a:srgbClr val="000000"/>
                </a:solidFill>
                <a:latin typeface="XM Yekan"/>
                <a:ea typeface="XM Yekan"/>
                <a:cs typeface="XM Yekan"/>
                <a:sym typeface="XM Yekan"/>
              </a:rPr>
              <a:t> </a:t>
            </a:r>
            <a:r>
              <a:rPr lang="en-US" b="true" sz="2869">
                <a:solidFill>
                  <a:srgbClr val="000000"/>
                </a:solidFill>
                <a:latin typeface="XM Yekan Bold"/>
                <a:ea typeface="XM Yekan Bold"/>
                <a:cs typeface="XM Yekan Bold"/>
                <a:sym typeface="XM Yekan Bold"/>
              </a:rPr>
              <a:t>Python</a:t>
            </a:r>
            <a:r>
              <a:rPr lang="en-US" sz="2869">
                <a:solidFill>
                  <a:srgbClr val="000000"/>
                </a:solidFill>
                <a:latin typeface="XM Yekan"/>
                <a:ea typeface="XM Yekan"/>
                <a:cs typeface="XM Yekan"/>
                <a:sym typeface="XM Yekan"/>
              </a:rPr>
              <a:t> – core language</a:t>
            </a:r>
          </a:p>
          <a:p>
            <a:pPr algn="l">
              <a:lnSpc>
                <a:spcPts val="4017"/>
              </a:lnSpc>
            </a:pPr>
            <a:r>
              <a:rPr lang="en-US" sz="2869">
                <a:solidFill>
                  <a:srgbClr val="000000"/>
                </a:solidFill>
                <a:latin typeface="XM Yekan"/>
                <a:ea typeface="XM Yekan"/>
                <a:cs typeface="XM Yekan"/>
                <a:sym typeface="XM Yekan"/>
              </a:rPr>
              <a:t> • </a:t>
            </a:r>
            <a:r>
              <a:rPr lang="en-US" b="true" sz="2869">
                <a:solidFill>
                  <a:srgbClr val="000000"/>
                </a:solidFill>
                <a:latin typeface="XM Yekan Bold"/>
                <a:ea typeface="XM Yekan Bold"/>
                <a:cs typeface="XM Yekan Bold"/>
                <a:sym typeface="XM Yekan Bold"/>
              </a:rPr>
              <a:t>Pandas &amp; NumPy</a:t>
            </a:r>
            <a:r>
              <a:rPr lang="en-US" sz="2869">
                <a:solidFill>
                  <a:srgbClr val="000000"/>
                </a:solidFill>
                <a:latin typeface="XM Yekan"/>
                <a:ea typeface="XM Yekan"/>
                <a:cs typeface="XM Yekan"/>
                <a:sym typeface="XM Yekan"/>
              </a:rPr>
              <a:t> – data preprocessing</a:t>
            </a:r>
          </a:p>
          <a:p>
            <a:pPr algn="l">
              <a:lnSpc>
                <a:spcPts val="4017"/>
              </a:lnSpc>
            </a:pPr>
            <a:r>
              <a:rPr lang="en-US" sz="2869">
                <a:solidFill>
                  <a:srgbClr val="000000"/>
                </a:solidFill>
                <a:latin typeface="XM Yekan"/>
                <a:ea typeface="XM Yekan"/>
                <a:cs typeface="XM Yekan"/>
                <a:sym typeface="XM Yekan"/>
              </a:rPr>
              <a:t> • </a:t>
            </a:r>
            <a:r>
              <a:rPr lang="en-US" b="true" sz="2869">
                <a:solidFill>
                  <a:srgbClr val="000000"/>
                </a:solidFill>
                <a:latin typeface="XM Yekan Bold"/>
                <a:ea typeface="XM Yekan Bold"/>
                <a:cs typeface="XM Yekan Bold"/>
                <a:sym typeface="XM Yekan Bold"/>
              </a:rPr>
              <a:t>Scikit-learn</a:t>
            </a:r>
            <a:r>
              <a:rPr lang="en-US" sz="2869">
                <a:solidFill>
                  <a:srgbClr val="000000"/>
                </a:solidFill>
                <a:latin typeface="XM Yekan"/>
                <a:ea typeface="XM Yekan"/>
                <a:cs typeface="XM Yekan"/>
                <a:sym typeface="XM Yekan"/>
              </a:rPr>
              <a:t> – encoding, splitting, evaluation metrics</a:t>
            </a:r>
          </a:p>
          <a:p>
            <a:pPr algn="l">
              <a:lnSpc>
                <a:spcPts val="4017"/>
              </a:lnSpc>
            </a:pPr>
            <a:r>
              <a:rPr lang="en-US" sz="2869">
                <a:solidFill>
                  <a:srgbClr val="000000"/>
                </a:solidFill>
                <a:latin typeface="XM Yekan"/>
                <a:ea typeface="XM Yekan"/>
                <a:cs typeface="XM Yekan"/>
                <a:sym typeface="XM Yekan"/>
              </a:rPr>
              <a:t> • </a:t>
            </a:r>
            <a:r>
              <a:rPr lang="en-US" b="true" sz="2869">
                <a:solidFill>
                  <a:srgbClr val="000000"/>
                </a:solidFill>
                <a:latin typeface="XM Yekan Bold"/>
                <a:ea typeface="XM Yekan Bold"/>
                <a:cs typeface="XM Yekan Bold"/>
                <a:sym typeface="XM Yekan Bold"/>
              </a:rPr>
              <a:t>XGBoost </a:t>
            </a:r>
            <a:r>
              <a:rPr lang="en-US" sz="2869">
                <a:solidFill>
                  <a:srgbClr val="000000"/>
                </a:solidFill>
                <a:latin typeface="XM Yekan"/>
                <a:ea typeface="XM Yekan"/>
                <a:cs typeface="XM Yekan"/>
                <a:sym typeface="XM Yekan"/>
              </a:rPr>
              <a:t>– classification algorithm</a:t>
            </a:r>
          </a:p>
          <a:p>
            <a:pPr algn="l">
              <a:lnSpc>
                <a:spcPts val="4017"/>
              </a:lnSpc>
            </a:pPr>
            <a:r>
              <a:rPr lang="en-US" sz="2869">
                <a:solidFill>
                  <a:srgbClr val="000000"/>
                </a:solidFill>
                <a:latin typeface="XM Yekan"/>
                <a:ea typeface="XM Yekan"/>
                <a:cs typeface="XM Yekan"/>
                <a:sym typeface="XM Yekan"/>
              </a:rPr>
              <a:t> • </a:t>
            </a:r>
            <a:r>
              <a:rPr lang="en-US" b="true" sz="2869">
                <a:solidFill>
                  <a:srgbClr val="000000"/>
                </a:solidFill>
                <a:latin typeface="XM Yekan Bold"/>
                <a:ea typeface="XM Yekan Bold"/>
                <a:cs typeface="XM Yekan Bold"/>
                <a:sym typeface="XM Yekan Bold"/>
              </a:rPr>
              <a:t>Matplotlib / Seaborn </a:t>
            </a:r>
            <a:r>
              <a:rPr lang="en-US" sz="2869">
                <a:solidFill>
                  <a:srgbClr val="000000"/>
                </a:solidFill>
                <a:latin typeface="XM Yekan"/>
                <a:ea typeface="XM Yekan"/>
                <a:cs typeface="XM Yekan"/>
                <a:sym typeface="XM Yekan"/>
              </a:rPr>
              <a:t>– visual exploration and charts</a:t>
            </a:r>
          </a:p>
          <a:p>
            <a:pPr algn="l">
              <a:lnSpc>
                <a:spcPts val="5599"/>
              </a:lnSpc>
            </a:pPr>
            <a:r>
              <a:rPr lang="en-US" b="true" sz="3999">
                <a:solidFill>
                  <a:srgbClr val="000000"/>
                </a:solidFill>
                <a:latin typeface="XM Yekan Bold"/>
                <a:ea typeface="XM Yekan Bold"/>
                <a:cs typeface="XM Yekan Bold"/>
                <a:sym typeface="XM Yekan Bold"/>
              </a:rPr>
              <a:t>Tools &amp; Platforms</a:t>
            </a:r>
          </a:p>
          <a:p>
            <a:pPr algn="l">
              <a:lnSpc>
                <a:spcPts val="4017"/>
              </a:lnSpc>
            </a:pPr>
            <a:r>
              <a:rPr lang="en-US" sz="2869">
                <a:solidFill>
                  <a:srgbClr val="000000"/>
                </a:solidFill>
                <a:latin typeface="XM Yekan"/>
                <a:ea typeface="XM Yekan"/>
                <a:cs typeface="XM Yekan"/>
                <a:sym typeface="XM Yekan"/>
              </a:rPr>
              <a:t>• </a:t>
            </a:r>
            <a:r>
              <a:rPr lang="en-US" b="true" sz="2869">
                <a:solidFill>
                  <a:srgbClr val="000000"/>
                </a:solidFill>
                <a:latin typeface="XM Yekan Bold"/>
                <a:ea typeface="XM Yekan Bold"/>
                <a:cs typeface="XM Yekan Bold"/>
                <a:sym typeface="XM Yekan Bold"/>
              </a:rPr>
              <a:t>Jupyter Notebook / Google Colab</a:t>
            </a:r>
            <a:r>
              <a:rPr lang="en-US" sz="2869">
                <a:solidFill>
                  <a:srgbClr val="000000"/>
                </a:solidFill>
                <a:latin typeface="XM Yekan"/>
                <a:ea typeface="XM Yekan"/>
                <a:cs typeface="XM Yekan"/>
                <a:sym typeface="XM Yekan"/>
              </a:rPr>
              <a:t> – model development</a:t>
            </a:r>
          </a:p>
          <a:p>
            <a:pPr algn="l">
              <a:lnSpc>
                <a:spcPts val="4017"/>
              </a:lnSpc>
            </a:pPr>
            <a:r>
              <a:rPr lang="en-US" sz="2869">
                <a:solidFill>
                  <a:srgbClr val="000000"/>
                </a:solidFill>
                <a:latin typeface="XM Yekan"/>
                <a:ea typeface="XM Yekan"/>
                <a:cs typeface="XM Yekan"/>
                <a:sym typeface="XM Yekan"/>
              </a:rPr>
              <a:t> </a:t>
            </a:r>
            <a:r>
              <a:rPr lang="en-US" b="true" sz="2869">
                <a:solidFill>
                  <a:srgbClr val="000000"/>
                </a:solidFill>
                <a:latin typeface="XM Yekan Bold"/>
                <a:ea typeface="XM Yekan Bold"/>
                <a:cs typeface="XM Yekan Bold"/>
                <a:sym typeface="XM Yekan Bold"/>
              </a:rPr>
              <a:t>• Power BI or Matplotlib</a:t>
            </a:r>
            <a:r>
              <a:rPr lang="en-US" sz="2869">
                <a:solidFill>
                  <a:srgbClr val="000000"/>
                </a:solidFill>
                <a:latin typeface="XM Yekan"/>
                <a:ea typeface="XM Yekan"/>
                <a:cs typeface="XM Yekan"/>
                <a:sym typeface="XM Yekan"/>
              </a:rPr>
              <a:t> – visualization of model outputs and insights</a:t>
            </a:r>
          </a:p>
          <a:p>
            <a:pPr algn="l">
              <a:lnSpc>
                <a:spcPts val="5599"/>
              </a:lnSpc>
            </a:pPr>
            <a:r>
              <a:rPr lang="en-US" b="true" sz="3999">
                <a:solidFill>
                  <a:srgbClr val="000000"/>
                </a:solidFill>
                <a:latin typeface="XM Yekan Bold"/>
                <a:ea typeface="XM Yekan Bold"/>
                <a:cs typeface="XM Yekan Bold"/>
                <a:sym typeface="XM Yekan Bold"/>
              </a:rPr>
              <a:t>Machine Learning Concepts Applied</a:t>
            </a:r>
          </a:p>
          <a:p>
            <a:pPr algn="l">
              <a:lnSpc>
                <a:spcPts val="4017"/>
              </a:lnSpc>
            </a:pPr>
            <a:r>
              <a:rPr lang="en-US" sz="2869">
                <a:solidFill>
                  <a:srgbClr val="000000"/>
                </a:solidFill>
                <a:latin typeface="XM Yekan"/>
                <a:ea typeface="XM Yekan"/>
                <a:cs typeface="XM Yekan"/>
                <a:sym typeface="XM Yekan"/>
              </a:rPr>
              <a:t>• Classification modeling</a:t>
            </a:r>
          </a:p>
          <a:p>
            <a:pPr algn="l">
              <a:lnSpc>
                <a:spcPts val="4017"/>
              </a:lnSpc>
            </a:pPr>
            <a:r>
              <a:rPr lang="en-US" sz="2869">
                <a:solidFill>
                  <a:srgbClr val="000000"/>
                </a:solidFill>
                <a:latin typeface="XM Yekan"/>
                <a:ea typeface="XM Yekan"/>
                <a:cs typeface="XM Yekan"/>
                <a:sym typeface="XM Yekan"/>
              </a:rPr>
              <a:t> • Train-test split</a:t>
            </a:r>
          </a:p>
          <a:p>
            <a:pPr algn="l">
              <a:lnSpc>
                <a:spcPts val="4017"/>
              </a:lnSpc>
            </a:pPr>
            <a:r>
              <a:rPr lang="en-US" sz="2869">
                <a:solidFill>
                  <a:srgbClr val="000000"/>
                </a:solidFill>
                <a:latin typeface="XM Yekan"/>
                <a:ea typeface="XM Yekan"/>
                <a:cs typeface="XM Yekan"/>
                <a:sym typeface="XM Yekan"/>
              </a:rPr>
              <a:t> • Overfitting/underfitting awareness</a:t>
            </a:r>
          </a:p>
          <a:p>
            <a:pPr algn="l">
              <a:lnSpc>
                <a:spcPts val="4017"/>
              </a:lnSpc>
            </a:pPr>
            <a:r>
              <a:rPr lang="en-US" sz="2869">
                <a:solidFill>
                  <a:srgbClr val="000000"/>
                </a:solidFill>
                <a:latin typeface="XM Yekan"/>
                <a:ea typeface="XM Yekan"/>
                <a:cs typeface="XM Yekan"/>
                <a:sym typeface="XM Yekan"/>
              </a:rPr>
              <a:t> • Churn probability calculation</a:t>
            </a:r>
          </a:p>
          <a:p>
            <a:pPr algn="l">
              <a:lnSpc>
                <a:spcPts val="4017"/>
              </a:lnSpc>
            </a:pPr>
            <a:r>
              <a:rPr lang="en-US" sz="2869">
                <a:solidFill>
                  <a:srgbClr val="000000"/>
                </a:solidFill>
                <a:latin typeface="XM Yekan"/>
                <a:ea typeface="XM Yekan"/>
                <a:cs typeface="XM Yekan"/>
                <a:sym typeface="XM Yekan"/>
              </a:rPr>
              <a:t> • Feature importance interpretation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582728"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401683" y="3081020"/>
            <a:ext cx="15867830" cy="6434455"/>
          </a:xfrm>
          <a:prstGeom prst="rect">
            <a:avLst/>
          </a:prstGeom>
        </p:spPr>
        <p:txBody>
          <a:bodyPr anchor="t" rtlCol="false" tIns="0" lIns="0" bIns="0" rIns="0">
            <a:spAutoFit/>
          </a:bodyPr>
          <a:lstStyle/>
          <a:p>
            <a:pPr algn="just">
              <a:lnSpc>
                <a:spcPts val="3919"/>
              </a:lnSpc>
            </a:pPr>
            <a:r>
              <a:rPr lang="en-US" sz="2799" b="true">
                <a:solidFill>
                  <a:srgbClr val="000000"/>
                </a:solidFill>
                <a:latin typeface="XM Yekan Bold"/>
                <a:ea typeface="XM Yekan Bold"/>
                <a:cs typeface="XM Yekan Bold"/>
                <a:sym typeface="XM Yekan Bold"/>
              </a:rPr>
              <a:t>1. Customer Churn Classification Model (XGBoost):</a:t>
            </a:r>
          </a:p>
          <a:p>
            <a:pPr algn="just">
              <a:lnSpc>
                <a:spcPts val="3919"/>
              </a:lnSpc>
            </a:pPr>
            <a:r>
              <a:rPr lang="en-US" sz="2799" b="true">
                <a:solidFill>
                  <a:srgbClr val="000000"/>
                </a:solidFill>
                <a:latin typeface="XM Yekan Bold"/>
                <a:ea typeface="XM Yekan Bold"/>
                <a:cs typeface="XM Yekan Bold"/>
                <a:sym typeface="XM Yekan Bold"/>
              </a:rPr>
              <a:t>•</a:t>
            </a:r>
            <a:r>
              <a:rPr lang="en-US" sz="2799">
                <a:solidFill>
                  <a:srgbClr val="000000"/>
                </a:solidFill>
                <a:latin typeface="XM Yekan"/>
                <a:ea typeface="XM Yekan"/>
                <a:cs typeface="XM Yekan"/>
                <a:sym typeface="XM Yekan"/>
              </a:rPr>
              <a:t> Predicts whether a customer is likely to churn based on historical patterns.</a:t>
            </a:r>
          </a:p>
          <a:p>
            <a:pPr algn="just">
              <a:lnSpc>
                <a:spcPts val="3919"/>
              </a:lnSpc>
            </a:pPr>
            <a:r>
              <a:rPr lang="en-US" sz="2799">
                <a:solidFill>
                  <a:srgbClr val="000000"/>
                </a:solidFill>
                <a:latin typeface="XM Yekan"/>
                <a:ea typeface="XM Yekan"/>
                <a:cs typeface="XM Yekan"/>
                <a:sym typeface="XM Yekan"/>
              </a:rPr>
              <a:t> • Generates churn probability scores for each customer, enabling early intervention.</a:t>
            </a:r>
          </a:p>
          <a:p>
            <a:pPr algn="just">
              <a:lnSpc>
                <a:spcPts val="3919"/>
              </a:lnSpc>
            </a:pPr>
            <a:r>
              <a:rPr lang="en-US" sz="2799" b="true">
                <a:solidFill>
                  <a:srgbClr val="000000"/>
                </a:solidFill>
                <a:latin typeface="XM Yekan Bold"/>
                <a:ea typeface="XM Yekan Bold"/>
                <a:cs typeface="XM Yekan Bold"/>
                <a:sym typeface="XM Yekan Bold"/>
              </a:rPr>
              <a:t>2. Feature Importance Visualization:</a:t>
            </a:r>
          </a:p>
          <a:p>
            <a:pPr algn="just">
              <a:lnSpc>
                <a:spcPts val="3919"/>
              </a:lnSpc>
            </a:pPr>
            <a:r>
              <a:rPr lang="en-US" sz="2799">
                <a:solidFill>
                  <a:srgbClr val="000000"/>
                </a:solidFill>
                <a:latin typeface="XM Yekan"/>
                <a:ea typeface="XM Yekan"/>
                <a:cs typeface="XM Yekan"/>
                <a:sym typeface="XM Yekan"/>
              </a:rPr>
              <a:t>• Identifies the most influential factors driving churn (e.g., tenure, contract type, payment method).</a:t>
            </a:r>
          </a:p>
          <a:p>
            <a:pPr algn="just">
              <a:lnSpc>
                <a:spcPts val="3919"/>
              </a:lnSpc>
            </a:pPr>
            <a:r>
              <a:rPr lang="en-US" sz="2799">
                <a:solidFill>
                  <a:srgbClr val="000000"/>
                </a:solidFill>
                <a:latin typeface="XM Yekan"/>
                <a:ea typeface="XM Yekan"/>
                <a:cs typeface="XM Yekan"/>
                <a:sym typeface="XM Yekan"/>
              </a:rPr>
              <a:t> • Helps businesses understand why customers are leaving.</a:t>
            </a:r>
          </a:p>
          <a:p>
            <a:pPr algn="just">
              <a:lnSpc>
                <a:spcPts val="3919"/>
              </a:lnSpc>
            </a:pPr>
            <a:r>
              <a:rPr lang="en-US" sz="2799" b="true">
                <a:solidFill>
                  <a:srgbClr val="000000"/>
                </a:solidFill>
                <a:latin typeface="XM Yekan Bold"/>
                <a:ea typeface="XM Yekan Bold"/>
                <a:cs typeface="XM Yekan Bold"/>
                <a:sym typeface="XM Yekan Bold"/>
              </a:rPr>
              <a:t>3. Churn Distribution Insights:</a:t>
            </a:r>
          </a:p>
          <a:p>
            <a:pPr algn="just">
              <a:lnSpc>
                <a:spcPts val="3919"/>
              </a:lnSpc>
            </a:pPr>
            <a:r>
              <a:rPr lang="en-US" sz="2799">
                <a:solidFill>
                  <a:srgbClr val="000000"/>
                </a:solidFill>
                <a:latin typeface="XM Yekan"/>
                <a:ea typeface="XM Yekan"/>
                <a:cs typeface="XM Yekan"/>
                <a:sym typeface="XM Yekan"/>
              </a:rPr>
              <a:t>• Visual breakdown of churn vs non-churn customers.</a:t>
            </a:r>
          </a:p>
          <a:p>
            <a:pPr algn="just">
              <a:lnSpc>
                <a:spcPts val="3919"/>
              </a:lnSpc>
            </a:pPr>
            <a:r>
              <a:rPr lang="en-US" sz="2799">
                <a:solidFill>
                  <a:srgbClr val="000000"/>
                </a:solidFill>
                <a:latin typeface="XM Yekan"/>
                <a:ea typeface="XM Yekan"/>
                <a:cs typeface="XM Yekan"/>
                <a:sym typeface="XM Yekan"/>
              </a:rPr>
              <a:t> • Shows the proportion of customers at risk.</a:t>
            </a:r>
          </a:p>
          <a:p>
            <a:pPr algn="just">
              <a:lnSpc>
                <a:spcPts val="3919"/>
              </a:lnSpc>
            </a:pPr>
            <a:r>
              <a:rPr lang="en-US" sz="2799" b="true">
                <a:solidFill>
                  <a:srgbClr val="000000"/>
                </a:solidFill>
                <a:latin typeface="XM Yekan Bold"/>
                <a:ea typeface="XM Yekan Bold"/>
                <a:cs typeface="XM Yekan Bold"/>
                <a:sym typeface="XM Yekan Bold"/>
              </a:rPr>
              <a:t>4. Contract Type &amp; Payment Method Analysis:</a:t>
            </a:r>
          </a:p>
          <a:p>
            <a:pPr algn="just">
              <a:lnSpc>
                <a:spcPts val="3919"/>
              </a:lnSpc>
            </a:pPr>
            <a:r>
              <a:rPr lang="en-US" sz="2799">
                <a:solidFill>
                  <a:srgbClr val="000000"/>
                </a:solidFill>
                <a:latin typeface="XM Yekan"/>
                <a:ea typeface="XM Yekan"/>
                <a:cs typeface="XM Yekan"/>
                <a:sym typeface="XM Yekan"/>
              </a:rPr>
              <a:t>• Highlights segments with highest churn (e.g., month-to-month contracts, electronic check users).</a:t>
            </a:r>
          </a:p>
          <a:p>
            <a:pPr algn="just">
              <a:lnSpc>
                <a:spcPts val="3919"/>
              </a:lnSpc>
            </a:pPr>
            <a:r>
              <a:rPr lang="en-US" sz="2799">
                <a:solidFill>
                  <a:srgbClr val="000000"/>
                </a:solidFill>
                <a:latin typeface="XM Yekan"/>
                <a:ea typeface="XM Yekan"/>
                <a:cs typeface="XM Yekan"/>
                <a:sym typeface="XM Yekan"/>
              </a:rPr>
              <a:t> • Assists in designing targeted retention offers.</a:t>
            </a:r>
          </a:p>
          <a:p>
            <a:pPr algn="just">
              <a:lnSpc>
                <a:spcPts val="3919"/>
              </a:lnSpc>
              <a:spcBef>
                <a:spcPct val="0"/>
              </a:spcBef>
            </a:pPr>
          </a:p>
        </p:txBody>
      </p:sp>
      <p:sp>
        <p:nvSpPr>
          <p:cNvPr name="TextBox 12" id="12"/>
          <p:cNvSpPr txBox="true"/>
          <p:nvPr/>
        </p:nvSpPr>
        <p:spPr>
          <a:xfrm rot="0">
            <a:off x="1401683" y="997067"/>
            <a:ext cx="15484634" cy="1811020"/>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Key</a:t>
            </a:r>
            <a:r>
              <a:rPr lang="en-US" b="true" sz="5199">
                <a:solidFill>
                  <a:srgbClr val="000000"/>
                </a:solidFill>
                <a:latin typeface="Canva Sans Bold"/>
                <a:ea typeface="Canva Sans Bold"/>
                <a:cs typeface="Canva Sans Bold"/>
                <a:sym typeface="Canva Sans Bold"/>
              </a:rPr>
              <a:t> Features of the Customer Churn Prediction System (Task 2)</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582728"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507317" y="7811113"/>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344601" y="8047763"/>
            <a:ext cx="2422016" cy="3289157"/>
          </a:xfrm>
          <a:custGeom>
            <a:avLst/>
            <a:gdLst/>
            <a:ahLst/>
            <a:cxnLst/>
            <a:rect r="r" b="b" t="t" l="l"/>
            <a:pathLst>
              <a:path h="3289157" w="2422016">
                <a:moveTo>
                  <a:pt x="0" y="0"/>
                </a:moveTo>
                <a:lnTo>
                  <a:pt x="2422016" y="0"/>
                </a:lnTo>
                <a:lnTo>
                  <a:pt x="2422016" y="3289157"/>
                </a:lnTo>
                <a:lnTo>
                  <a:pt x="0" y="32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3116956" y="9550935"/>
            <a:ext cx="3227645" cy="2975302"/>
          </a:xfrm>
          <a:custGeom>
            <a:avLst/>
            <a:gdLst/>
            <a:ahLst/>
            <a:cxnLst/>
            <a:rect r="r" b="b" t="t" l="l"/>
            <a:pathLst>
              <a:path h="2975302" w="3227645">
                <a:moveTo>
                  <a:pt x="0" y="2975302"/>
                </a:moveTo>
                <a:lnTo>
                  <a:pt x="3227645" y="2975302"/>
                </a:lnTo>
                <a:lnTo>
                  <a:pt x="3227645" y="0"/>
                </a:lnTo>
                <a:lnTo>
                  <a:pt x="0" y="0"/>
                </a:lnTo>
                <a:lnTo>
                  <a:pt x="0" y="297530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0">
            <a:off x="-450042" y="-1037137"/>
            <a:ext cx="2635955" cy="3579692"/>
          </a:xfrm>
          <a:custGeom>
            <a:avLst/>
            <a:gdLst/>
            <a:ahLst/>
            <a:cxnLst/>
            <a:rect r="r" b="b" t="t" l="l"/>
            <a:pathLst>
              <a:path h="3579692" w="2635955">
                <a:moveTo>
                  <a:pt x="2635955" y="3579692"/>
                </a:moveTo>
                <a:lnTo>
                  <a:pt x="0" y="3579692"/>
                </a:lnTo>
                <a:lnTo>
                  <a:pt x="0" y="0"/>
                </a:lnTo>
                <a:lnTo>
                  <a:pt x="2635955" y="0"/>
                </a:lnTo>
                <a:lnTo>
                  <a:pt x="2635955" y="35796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2185913" y="-2485405"/>
            <a:ext cx="3512747" cy="3238114"/>
          </a:xfrm>
          <a:custGeom>
            <a:avLst/>
            <a:gdLst/>
            <a:ahLst/>
            <a:cxnLst/>
            <a:rect r="r" b="b" t="t" l="l"/>
            <a:pathLst>
              <a:path h="3238114" w="3512747">
                <a:moveTo>
                  <a:pt x="0" y="3238114"/>
                </a:moveTo>
                <a:lnTo>
                  <a:pt x="3512747" y="3238114"/>
                </a:lnTo>
                <a:lnTo>
                  <a:pt x="3512747" y="0"/>
                </a:lnTo>
                <a:lnTo>
                  <a:pt x="0" y="0"/>
                </a:lnTo>
                <a:lnTo>
                  <a:pt x="0" y="32381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015273" y="962025"/>
            <a:ext cx="15073387" cy="9406255"/>
          </a:xfrm>
          <a:prstGeom prst="rect">
            <a:avLst/>
          </a:prstGeom>
        </p:spPr>
        <p:txBody>
          <a:bodyPr anchor="t" rtlCol="false" tIns="0" lIns="0" bIns="0" rIns="0">
            <a:spAutoFit/>
          </a:bodyPr>
          <a:lstStyle/>
          <a:p>
            <a:pPr algn="just">
              <a:lnSpc>
                <a:spcPts val="3920"/>
              </a:lnSpc>
            </a:pPr>
            <a:r>
              <a:rPr lang="en-US" sz="2800" b="true">
                <a:solidFill>
                  <a:srgbClr val="000000"/>
                </a:solidFill>
                <a:latin typeface="XM Yekan Bold"/>
                <a:ea typeface="XM Yekan Bold"/>
                <a:cs typeface="XM Yekan Bold"/>
                <a:sym typeface="XM Yekan Bold"/>
              </a:rPr>
              <a:t>5. Monthly Charges and Tenure Pattern Analysis:</a:t>
            </a:r>
          </a:p>
          <a:p>
            <a:pPr algn="just">
              <a:lnSpc>
                <a:spcPts val="3920"/>
              </a:lnSpc>
            </a:pPr>
            <a:r>
              <a:rPr lang="en-US" sz="2800" b="true">
                <a:solidFill>
                  <a:srgbClr val="000000"/>
                </a:solidFill>
                <a:latin typeface="XM Yekan Bold"/>
                <a:ea typeface="XM Yekan Bold"/>
                <a:cs typeface="XM Yekan Bold"/>
                <a:sym typeface="XM Yekan Bold"/>
              </a:rPr>
              <a:t>• </a:t>
            </a:r>
            <a:r>
              <a:rPr lang="en-US" sz="2800">
                <a:solidFill>
                  <a:srgbClr val="000000"/>
                </a:solidFill>
                <a:latin typeface="XM Yekan"/>
                <a:ea typeface="XM Yekan"/>
                <a:cs typeface="XM Yekan"/>
                <a:sym typeface="XM Yekan"/>
              </a:rPr>
              <a:t>Shows how billing amount and length of service influence churn.</a:t>
            </a:r>
          </a:p>
          <a:p>
            <a:pPr algn="just">
              <a:lnSpc>
                <a:spcPts val="3920"/>
              </a:lnSpc>
            </a:pPr>
            <a:r>
              <a:rPr lang="en-US" sz="2800">
                <a:solidFill>
                  <a:srgbClr val="000000"/>
                </a:solidFill>
                <a:latin typeface="XM Yekan"/>
                <a:ea typeface="XM Yekan"/>
                <a:cs typeface="XM Yekan"/>
                <a:sym typeface="XM Yekan"/>
              </a:rPr>
              <a:t> • Useful for pricing strategy and customer support improvements.</a:t>
            </a:r>
          </a:p>
          <a:p>
            <a:pPr algn="just">
              <a:lnSpc>
                <a:spcPts val="3920"/>
              </a:lnSpc>
            </a:pPr>
            <a:r>
              <a:rPr lang="en-US" sz="2800" b="true">
                <a:solidFill>
                  <a:srgbClr val="000000"/>
                </a:solidFill>
                <a:latin typeface="XM Yekan Bold"/>
                <a:ea typeface="XM Yekan Bold"/>
                <a:cs typeface="XM Yekan Bold"/>
                <a:sym typeface="XM Yekan Bold"/>
              </a:rPr>
              <a:t>6. Actual vs Predicted</a:t>
            </a:r>
            <a:r>
              <a:rPr lang="en-US" sz="2800" b="true">
                <a:solidFill>
                  <a:srgbClr val="000000"/>
                </a:solidFill>
                <a:latin typeface="XM Yekan Bold"/>
                <a:ea typeface="XM Yekan Bold"/>
                <a:cs typeface="XM Yekan Bold"/>
                <a:sym typeface="XM Yekan Bold"/>
              </a:rPr>
              <a:t> Churn Comparison:</a:t>
            </a:r>
          </a:p>
          <a:p>
            <a:pPr algn="just">
              <a:lnSpc>
                <a:spcPts val="3920"/>
              </a:lnSpc>
            </a:pPr>
            <a:r>
              <a:rPr lang="en-US" sz="2800">
                <a:solidFill>
                  <a:srgbClr val="000000"/>
                </a:solidFill>
                <a:latin typeface="XM Yekan"/>
                <a:ea typeface="XM Yekan"/>
                <a:cs typeface="XM Yekan"/>
                <a:sym typeface="XM Yekan"/>
              </a:rPr>
              <a:t>• Evaluates model accuracy by comparing true customer labels with model predictions.</a:t>
            </a:r>
          </a:p>
          <a:p>
            <a:pPr algn="just">
              <a:lnSpc>
                <a:spcPts val="3920"/>
              </a:lnSpc>
            </a:pPr>
            <a:r>
              <a:rPr lang="en-US" sz="2800">
                <a:solidFill>
                  <a:srgbClr val="000000"/>
                </a:solidFill>
                <a:latin typeface="XM Yekan"/>
                <a:ea typeface="XM Yekan"/>
                <a:cs typeface="XM Yekan"/>
                <a:sym typeface="XM Yekan"/>
              </a:rPr>
              <a:t> •</a:t>
            </a:r>
            <a:r>
              <a:rPr lang="en-US" sz="2800">
                <a:solidFill>
                  <a:srgbClr val="000000"/>
                </a:solidFill>
                <a:latin typeface="XM Yekan"/>
                <a:ea typeface="XM Yekan"/>
                <a:cs typeface="XM Yekan"/>
                <a:sym typeface="XM Yekan"/>
              </a:rPr>
              <a:t> Helps validate performance of the XGBoost model.</a:t>
            </a:r>
          </a:p>
          <a:p>
            <a:pPr algn="just">
              <a:lnSpc>
                <a:spcPts val="3920"/>
              </a:lnSpc>
            </a:pPr>
            <a:r>
              <a:rPr lang="en-US" sz="2800" b="true">
                <a:solidFill>
                  <a:srgbClr val="000000"/>
                </a:solidFill>
                <a:latin typeface="XM Yekan Bold"/>
                <a:ea typeface="XM Yekan Bold"/>
                <a:cs typeface="XM Yekan Bold"/>
                <a:sym typeface="XM Yekan Bold"/>
              </a:rPr>
              <a:t>7. KPI Summary Cards:</a:t>
            </a:r>
          </a:p>
          <a:p>
            <a:pPr algn="just">
              <a:lnSpc>
                <a:spcPts val="3920"/>
              </a:lnSpc>
            </a:pPr>
            <a:r>
              <a:rPr lang="en-US" sz="2800">
                <a:solidFill>
                  <a:srgbClr val="000000"/>
                </a:solidFill>
                <a:latin typeface="XM Yekan"/>
                <a:ea typeface="XM Yekan"/>
                <a:cs typeface="XM Yekan"/>
                <a:sym typeface="XM Yekan"/>
              </a:rPr>
              <a:t>• Total Customers</a:t>
            </a:r>
          </a:p>
          <a:p>
            <a:pPr algn="just">
              <a:lnSpc>
                <a:spcPts val="3920"/>
              </a:lnSpc>
            </a:pPr>
            <a:r>
              <a:rPr lang="en-US" sz="2800">
                <a:solidFill>
                  <a:srgbClr val="000000"/>
                </a:solidFill>
                <a:latin typeface="XM Yekan"/>
                <a:ea typeface="XM Yekan"/>
                <a:cs typeface="XM Yekan"/>
                <a:sym typeface="XM Yekan"/>
              </a:rPr>
              <a:t> • Total Churners</a:t>
            </a:r>
          </a:p>
          <a:p>
            <a:pPr algn="just">
              <a:lnSpc>
                <a:spcPts val="3920"/>
              </a:lnSpc>
            </a:pPr>
            <a:r>
              <a:rPr lang="en-US" sz="2800">
                <a:solidFill>
                  <a:srgbClr val="000000"/>
                </a:solidFill>
                <a:latin typeface="XM Yekan"/>
                <a:ea typeface="XM Yekan"/>
                <a:cs typeface="XM Yekan"/>
                <a:sym typeface="XM Yekan"/>
              </a:rPr>
              <a:t> • Churn Rate (%)</a:t>
            </a:r>
          </a:p>
          <a:p>
            <a:pPr algn="just">
              <a:lnSpc>
                <a:spcPts val="3920"/>
              </a:lnSpc>
            </a:pPr>
            <a:r>
              <a:rPr lang="en-US" sz="2800">
                <a:solidFill>
                  <a:srgbClr val="000000"/>
                </a:solidFill>
                <a:latin typeface="XM Yekan"/>
                <a:ea typeface="XM Yekan"/>
                <a:cs typeface="XM Yekan"/>
                <a:sym typeface="XM Yekan"/>
              </a:rPr>
              <a:t> </a:t>
            </a:r>
            <a:r>
              <a:rPr lang="en-US" sz="2800">
                <a:solidFill>
                  <a:srgbClr val="000000"/>
                </a:solidFill>
                <a:latin typeface="XM Yekan"/>
                <a:ea typeface="XM Yekan"/>
                <a:cs typeface="XM Yekan"/>
                <a:sym typeface="XM Yekan"/>
              </a:rPr>
              <a:t>• High-Risk Customers</a:t>
            </a:r>
          </a:p>
          <a:p>
            <a:pPr algn="just">
              <a:lnSpc>
                <a:spcPts val="3920"/>
              </a:lnSpc>
            </a:pPr>
            <a:r>
              <a:rPr lang="en-US" sz="2800">
                <a:solidFill>
                  <a:srgbClr val="000000"/>
                </a:solidFill>
                <a:latin typeface="XM Yekan"/>
                <a:ea typeface="XM Yekan"/>
                <a:cs typeface="XM Yekan"/>
                <a:sym typeface="XM Yekan"/>
              </a:rPr>
              <a:t> Provides quick, at-a-glance business metrics.</a:t>
            </a:r>
          </a:p>
          <a:p>
            <a:pPr algn="just">
              <a:lnSpc>
                <a:spcPts val="3920"/>
              </a:lnSpc>
            </a:pPr>
            <a:r>
              <a:rPr lang="en-US" sz="2800" b="true">
                <a:solidFill>
                  <a:srgbClr val="000000"/>
                </a:solidFill>
                <a:latin typeface="XM Yekan Bold"/>
                <a:ea typeface="XM Yekan Bold"/>
                <a:cs typeface="XM Yekan Bold"/>
                <a:sym typeface="XM Yekan Bold"/>
              </a:rPr>
              <a:t>8</a:t>
            </a:r>
            <a:r>
              <a:rPr lang="en-US" sz="2800" b="true">
                <a:solidFill>
                  <a:srgbClr val="000000"/>
                </a:solidFill>
                <a:latin typeface="XM Yekan Bold"/>
                <a:ea typeface="XM Yekan Bold"/>
                <a:cs typeface="XM Yekan Bold"/>
                <a:sym typeface="XM Yekan Bold"/>
              </a:rPr>
              <a:t>. Churn Probability-Based Segmentation:</a:t>
            </a:r>
          </a:p>
          <a:p>
            <a:pPr algn="just">
              <a:lnSpc>
                <a:spcPts val="3920"/>
              </a:lnSpc>
            </a:pPr>
            <a:r>
              <a:rPr lang="en-US" sz="2800">
                <a:solidFill>
                  <a:srgbClr val="000000"/>
                </a:solidFill>
                <a:latin typeface="XM Yekan"/>
                <a:ea typeface="XM Yekan"/>
                <a:cs typeface="XM Yekan"/>
                <a:sym typeface="XM Yekan"/>
              </a:rPr>
              <a:t>• Groups customers into Low, Medium, and High churn-risk categories.</a:t>
            </a:r>
          </a:p>
          <a:p>
            <a:pPr algn="just">
              <a:lnSpc>
                <a:spcPts val="3920"/>
              </a:lnSpc>
            </a:pPr>
            <a:r>
              <a:rPr lang="en-US" sz="2800">
                <a:solidFill>
                  <a:srgbClr val="000000"/>
                </a:solidFill>
                <a:latin typeface="XM Yekan"/>
                <a:ea typeface="XM Yekan"/>
                <a:cs typeface="XM Yekan"/>
                <a:sym typeface="XM Yekan"/>
              </a:rPr>
              <a:t> • Guides retention teams to prioritize top-risk users.</a:t>
            </a:r>
          </a:p>
          <a:p>
            <a:pPr algn="just">
              <a:lnSpc>
                <a:spcPts val="3920"/>
              </a:lnSpc>
            </a:pPr>
            <a:r>
              <a:rPr lang="en-US" sz="2800" b="true">
                <a:solidFill>
                  <a:srgbClr val="000000"/>
                </a:solidFill>
                <a:latin typeface="XM Yekan Bold"/>
                <a:ea typeface="XM Yekan Bold"/>
                <a:cs typeface="XM Yekan Bold"/>
                <a:sym typeface="XM Yekan Bold"/>
              </a:rPr>
              <a:t>9. Interactive Filters:</a:t>
            </a:r>
          </a:p>
          <a:p>
            <a:pPr algn="just">
              <a:lnSpc>
                <a:spcPts val="3920"/>
              </a:lnSpc>
            </a:pPr>
            <a:r>
              <a:rPr lang="en-US" sz="2800">
                <a:solidFill>
                  <a:srgbClr val="000000"/>
                </a:solidFill>
                <a:latin typeface="XM Yekan"/>
                <a:ea typeface="XM Yekan"/>
                <a:cs typeface="XM Yekan"/>
                <a:sym typeface="XM Yekan"/>
              </a:rPr>
              <a:t>• Filters by contract, tenure, payment method, senior citizen, and more</a:t>
            </a:r>
          </a:p>
          <a:p>
            <a:pPr algn="just">
              <a:lnSpc>
                <a:spcPts val="3920"/>
              </a:lnSpc>
            </a:pPr>
            <a:r>
              <a:rPr lang="en-US" sz="2800">
                <a:solidFill>
                  <a:srgbClr val="000000"/>
                </a:solidFill>
                <a:latin typeface="XM Yekan"/>
                <a:ea typeface="XM Yekan"/>
                <a:cs typeface="XM Yekan"/>
                <a:sym typeface="XM Yekan"/>
              </a:rPr>
              <a:t> • Allows personalized and segment-wise churn exploration.</a:t>
            </a:r>
          </a:p>
          <a:p>
            <a:pPr algn="just">
              <a:lnSpc>
                <a:spcPts val="3920"/>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true" rot="5400000">
            <a:off x="15570520" y="8165856"/>
            <a:ext cx="3014634" cy="4093948"/>
          </a:xfrm>
          <a:custGeom>
            <a:avLst/>
            <a:gdLst/>
            <a:ahLst/>
            <a:cxnLst/>
            <a:rect r="r" b="b" t="t" l="l"/>
            <a:pathLst>
              <a:path h="4093948" w="3014634">
                <a:moveTo>
                  <a:pt x="0" y="4093948"/>
                </a:moveTo>
                <a:lnTo>
                  <a:pt x="3014635" y="4093948"/>
                </a:lnTo>
                <a:lnTo>
                  <a:pt x="3014635" y="0"/>
                </a:lnTo>
                <a:lnTo>
                  <a:pt x="0" y="0"/>
                </a:lnTo>
                <a:lnTo>
                  <a:pt x="0" y="409394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516447">
            <a:off x="45892" y="8405118"/>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259491" y="-681720"/>
            <a:ext cx="2518983" cy="3420841"/>
          </a:xfrm>
          <a:custGeom>
            <a:avLst/>
            <a:gdLst/>
            <a:ahLst/>
            <a:cxnLst/>
            <a:rect r="r" b="b" t="t" l="l"/>
            <a:pathLst>
              <a:path h="3420841" w="2518983">
                <a:moveTo>
                  <a:pt x="0" y="3420840"/>
                </a:moveTo>
                <a:lnTo>
                  <a:pt x="2518982" y="3420840"/>
                </a:lnTo>
                <a:lnTo>
                  <a:pt x="2518982" y="0"/>
                </a:lnTo>
                <a:lnTo>
                  <a:pt x="0" y="0"/>
                </a:lnTo>
                <a:lnTo>
                  <a:pt x="0" y="3420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944038" y="1533525"/>
            <a:ext cx="13736708" cy="7698207"/>
          </a:xfrm>
          <a:custGeom>
            <a:avLst/>
            <a:gdLst/>
            <a:ahLst/>
            <a:cxnLst/>
            <a:rect r="r" b="b" t="t" l="l"/>
            <a:pathLst>
              <a:path h="7698207" w="13736708">
                <a:moveTo>
                  <a:pt x="0" y="0"/>
                </a:moveTo>
                <a:lnTo>
                  <a:pt x="13736708" y="0"/>
                </a:lnTo>
                <a:lnTo>
                  <a:pt x="13736708" y="7698207"/>
                </a:lnTo>
                <a:lnTo>
                  <a:pt x="0" y="7698207"/>
                </a:lnTo>
                <a:lnTo>
                  <a:pt x="0" y="0"/>
                </a:lnTo>
                <a:close/>
              </a:path>
            </a:pathLst>
          </a:custGeom>
          <a:blipFill>
            <a:blip r:embed="rId6"/>
            <a:stretch>
              <a:fillRect l="-16704" t="-19787" r="-23110" b="-20548"/>
            </a:stretch>
          </a:blipFill>
        </p:spPr>
      </p:sp>
      <p:sp>
        <p:nvSpPr>
          <p:cNvPr name="TextBox 10" id="10"/>
          <p:cNvSpPr txBox="true"/>
          <p:nvPr/>
        </p:nvSpPr>
        <p:spPr>
          <a:xfrm rot="0">
            <a:off x="3297111" y="752475"/>
            <a:ext cx="10891067" cy="781050"/>
          </a:xfrm>
          <a:prstGeom prst="rect">
            <a:avLst/>
          </a:prstGeom>
        </p:spPr>
        <p:txBody>
          <a:bodyPr anchor="t" rtlCol="false" tIns="0" lIns="0" bIns="0" rIns="0">
            <a:spAutoFit/>
          </a:bodyPr>
          <a:lstStyle/>
          <a:p>
            <a:pPr algn="ctr">
              <a:lnSpc>
                <a:spcPts val="4800"/>
              </a:lnSpc>
            </a:pPr>
            <a:r>
              <a:rPr lang="en-US" b="true" sz="6000">
                <a:solidFill>
                  <a:srgbClr val="000000"/>
                </a:solidFill>
                <a:latin typeface="Araboto Bold"/>
                <a:ea typeface="Araboto Bold"/>
                <a:cs typeface="Araboto Bold"/>
                <a:sym typeface="Araboto Bold"/>
              </a:rPr>
              <a:t>DASHBOARD</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true" rot="5400000">
            <a:off x="15570520" y="8165856"/>
            <a:ext cx="3014634" cy="4093948"/>
          </a:xfrm>
          <a:custGeom>
            <a:avLst/>
            <a:gdLst/>
            <a:ahLst/>
            <a:cxnLst/>
            <a:rect r="r" b="b" t="t" l="l"/>
            <a:pathLst>
              <a:path h="4093948" w="3014634">
                <a:moveTo>
                  <a:pt x="0" y="4093948"/>
                </a:moveTo>
                <a:lnTo>
                  <a:pt x="3014635" y="4093948"/>
                </a:lnTo>
                <a:lnTo>
                  <a:pt x="3014635" y="0"/>
                </a:lnTo>
                <a:lnTo>
                  <a:pt x="0" y="0"/>
                </a:lnTo>
                <a:lnTo>
                  <a:pt x="0" y="409394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516447">
            <a:off x="45892" y="8405118"/>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259491" y="-681720"/>
            <a:ext cx="2518983" cy="3420841"/>
          </a:xfrm>
          <a:custGeom>
            <a:avLst/>
            <a:gdLst/>
            <a:ahLst/>
            <a:cxnLst/>
            <a:rect r="r" b="b" t="t" l="l"/>
            <a:pathLst>
              <a:path h="3420841" w="2518983">
                <a:moveTo>
                  <a:pt x="0" y="3420840"/>
                </a:moveTo>
                <a:lnTo>
                  <a:pt x="2518982" y="3420840"/>
                </a:lnTo>
                <a:lnTo>
                  <a:pt x="2518982" y="0"/>
                </a:lnTo>
                <a:lnTo>
                  <a:pt x="0" y="0"/>
                </a:lnTo>
                <a:lnTo>
                  <a:pt x="0" y="3420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604026" y="1951150"/>
            <a:ext cx="15655274" cy="7315200"/>
          </a:xfrm>
          <a:prstGeom prst="rect">
            <a:avLst/>
          </a:prstGeom>
        </p:spPr>
        <p:txBody>
          <a:bodyPr anchor="t" rtlCol="false" tIns="0" lIns="0" bIns="0" rIns="0">
            <a:spAutoFit/>
          </a:bodyPr>
          <a:lstStyle/>
          <a:p>
            <a:pPr algn="just" marL="647698" indent="-323849" lvl="1">
              <a:lnSpc>
                <a:spcPts val="4199"/>
              </a:lnSpc>
              <a:buFont typeface="Arial"/>
              <a:buChar char="•"/>
            </a:pPr>
            <a:r>
              <a:rPr lang="en-US" sz="2999">
                <a:solidFill>
                  <a:srgbClr val="000000"/>
                </a:solidFill>
                <a:latin typeface="XM Yekan"/>
                <a:ea typeface="XM Yekan"/>
                <a:cs typeface="XM Yekan"/>
                <a:sym typeface="XM Yekan"/>
              </a:rPr>
              <a:t>Developed practical skills in building real-world machine learning models for forecasting sales and predicting customer churn.</a:t>
            </a:r>
          </a:p>
          <a:p>
            <a:pPr algn="just">
              <a:lnSpc>
                <a:spcPts val="4199"/>
              </a:lnSpc>
            </a:pPr>
          </a:p>
          <a:p>
            <a:pPr algn="just" marL="647698" indent="-323849" lvl="1">
              <a:lnSpc>
                <a:spcPts val="4199"/>
              </a:lnSpc>
              <a:buFont typeface="Arial"/>
              <a:buChar char="•"/>
            </a:pPr>
            <a:r>
              <a:rPr lang="en-US" sz="2999">
                <a:solidFill>
                  <a:srgbClr val="000000"/>
                </a:solidFill>
                <a:latin typeface="XM Yekan"/>
                <a:ea typeface="XM Yekan"/>
                <a:cs typeface="XM Yekan"/>
                <a:sym typeface="XM Yekan"/>
              </a:rPr>
              <a:t>Gained hands-on experience in data cleaning, preprocessing, feature engineering, and model evaluation using Python and advanced ML libraries.</a:t>
            </a:r>
          </a:p>
          <a:p>
            <a:pPr algn="just">
              <a:lnSpc>
                <a:spcPts val="4199"/>
              </a:lnSpc>
            </a:pPr>
          </a:p>
          <a:p>
            <a:pPr algn="just" marL="647698" indent="-323849" lvl="1">
              <a:lnSpc>
                <a:spcPts val="4199"/>
              </a:lnSpc>
              <a:buFont typeface="Arial"/>
              <a:buChar char="•"/>
            </a:pPr>
            <a:r>
              <a:rPr lang="en-US" sz="2999">
                <a:solidFill>
                  <a:srgbClr val="000000"/>
                </a:solidFill>
                <a:latin typeface="XM Yekan"/>
                <a:ea typeface="XM Yekan"/>
                <a:cs typeface="XM Yekan"/>
                <a:sym typeface="XM Yekan"/>
              </a:rPr>
              <a:t>Created interactive analytical dashboards in Power BI to communicate insights effectively through visual storytelling.</a:t>
            </a:r>
          </a:p>
          <a:p>
            <a:pPr algn="just">
              <a:lnSpc>
                <a:spcPts val="4199"/>
              </a:lnSpc>
            </a:pPr>
          </a:p>
          <a:p>
            <a:pPr algn="just" marL="647698" indent="-323849" lvl="1">
              <a:lnSpc>
                <a:spcPts val="4199"/>
              </a:lnSpc>
              <a:buFont typeface="Arial"/>
              <a:buChar char="•"/>
            </a:pPr>
            <a:r>
              <a:rPr lang="en-US" sz="2999">
                <a:solidFill>
                  <a:srgbClr val="000000"/>
                </a:solidFill>
                <a:latin typeface="XM Yekan"/>
                <a:ea typeface="XM Yekan"/>
                <a:cs typeface="XM Yekan"/>
                <a:sym typeface="XM Yekan"/>
              </a:rPr>
              <a:t>Improved understanding of business analytics, including trend analysis, customer behavior interpretation, and data-driven decision-making.</a:t>
            </a:r>
          </a:p>
          <a:p>
            <a:pPr algn="just">
              <a:lnSpc>
                <a:spcPts val="4199"/>
              </a:lnSpc>
            </a:pPr>
          </a:p>
          <a:p>
            <a:pPr algn="just" marL="647698" indent="-323849" lvl="1">
              <a:lnSpc>
                <a:spcPts val="4199"/>
              </a:lnSpc>
              <a:buFont typeface="Arial"/>
              <a:buChar char="•"/>
            </a:pPr>
            <a:r>
              <a:rPr lang="en-US" sz="2999">
                <a:solidFill>
                  <a:srgbClr val="000000"/>
                </a:solidFill>
                <a:latin typeface="XM Yekan"/>
                <a:ea typeface="XM Yekan"/>
                <a:cs typeface="XM Yekan"/>
                <a:sym typeface="XM Yekan"/>
              </a:rPr>
              <a:t>Strengthened technical reporting and presentation skills by documenting workflows, explaining insights, and presenting outcomes in a structured format</a:t>
            </a:r>
          </a:p>
        </p:txBody>
      </p:sp>
      <p:sp>
        <p:nvSpPr>
          <p:cNvPr name="TextBox 10" id="10"/>
          <p:cNvSpPr txBox="true"/>
          <p:nvPr/>
        </p:nvSpPr>
        <p:spPr>
          <a:xfrm rot="0">
            <a:off x="3710955" y="676275"/>
            <a:ext cx="10463451" cy="684530"/>
          </a:xfrm>
          <a:prstGeom prst="rect">
            <a:avLst/>
          </a:prstGeom>
        </p:spPr>
        <p:txBody>
          <a:bodyPr anchor="t" rtlCol="false" tIns="0" lIns="0" bIns="0" rIns="0">
            <a:spAutoFit/>
          </a:bodyPr>
          <a:lstStyle/>
          <a:p>
            <a:pPr algn="ctr">
              <a:lnSpc>
                <a:spcPts val="5199"/>
              </a:lnSpc>
              <a:spcBef>
                <a:spcPct val="0"/>
              </a:spcBef>
            </a:pPr>
            <a:r>
              <a:rPr lang="en-US" b="true" sz="5199">
                <a:solidFill>
                  <a:srgbClr val="000000"/>
                </a:solidFill>
                <a:latin typeface="XM Yekan Bold"/>
                <a:ea typeface="XM Yekan Bold"/>
                <a:cs typeface="XM Yekan Bold"/>
                <a:sym typeface="XM Yekan Bold"/>
              </a:rPr>
              <a:t>OUTCOMES OF THE INTERNSHIP</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true" rot="5400000">
            <a:off x="15570520" y="8165856"/>
            <a:ext cx="3014634" cy="4093948"/>
          </a:xfrm>
          <a:custGeom>
            <a:avLst/>
            <a:gdLst/>
            <a:ahLst/>
            <a:cxnLst/>
            <a:rect r="r" b="b" t="t" l="l"/>
            <a:pathLst>
              <a:path h="4093948" w="3014634">
                <a:moveTo>
                  <a:pt x="0" y="4093948"/>
                </a:moveTo>
                <a:lnTo>
                  <a:pt x="3014635" y="4093948"/>
                </a:lnTo>
                <a:lnTo>
                  <a:pt x="3014635" y="0"/>
                </a:lnTo>
                <a:lnTo>
                  <a:pt x="0" y="0"/>
                </a:lnTo>
                <a:lnTo>
                  <a:pt x="0" y="409394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516447">
            <a:off x="45892" y="8405118"/>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259491" y="-681720"/>
            <a:ext cx="2518983" cy="3420841"/>
          </a:xfrm>
          <a:custGeom>
            <a:avLst/>
            <a:gdLst/>
            <a:ahLst/>
            <a:cxnLst/>
            <a:rect r="r" b="b" t="t" l="l"/>
            <a:pathLst>
              <a:path h="3420841" w="2518983">
                <a:moveTo>
                  <a:pt x="0" y="3420840"/>
                </a:moveTo>
                <a:lnTo>
                  <a:pt x="2518982" y="3420840"/>
                </a:lnTo>
                <a:lnTo>
                  <a:pt x="2518982" y="0"/>
                </a:lnTo>
                <a:lnTo>
                  <a:pt x="0" y="0"/>
                </a:lnTo>
                <a:lnTo>
                  <a:pt x="0" y="3420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6487889" y="676275"/>
            <a:ext cx="5312221" cy="809625"/>
          </a:xfrm>
          <a:prstGeom prst="rect">
            <a:avLst/>
          </a:prstGeom>
        </p:spPr>
        <p:txBody>
          <a:bodyPr anchor="t" rtlCol="false" tIns="0" lIns="0" bIns="0" rIns="0">
            <a:spAutoFit/>
          </a:bodyPr>
          <a:lstStyle/>
          <a:p>
            <a:pPr algn="ctr">
              <a:lnSpc>
                <a:spcPts val="6000"/>
              </a:lnSpc>
              <a:spcBef>
                <a:spcPct val="0"/>
              </a:spcBef>
            </a:pPr>
            <a:r>
              <a:rPr lang="en-US" b="true" sz="6000">
                <a:solidFill>
                  <a:srgbClr val="000000"/>
                </a:solidFill>
                <a:latin typeface="XM Yekan Bold"/>
                <a:ea typeface="XM Yekan Bold"/>
                <a:cs typeface="XM Yekan Bold"/>
                <a:sym typeface="XM Yekan Bold"/>
              </a:rPr>
              <a:t>CONCLUSION</a:t>
            </a:r>
          </a:p>
        </p:txBody>
      </p:sp>
      <p:sp>
        <p:nvSpPr>
          <p:cNvPr name="TextBox 10" id="10"/>
          <p:cNvSpPr txBox="true"/>
          <p:nvPr/>
        </p:nvSpPr>
        <p:spPr>
          <a:xfrm rot="0">
            <a:off x="1297685" y="1790700"/>
            <a:ext cx="15923422" cy="745807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00000"/>
                </a:solidFill>
                <a:latin typeface="XM Yekan"/>
                <a:ea typeface="XM Yekan"/>
                <a:cs typeface="XM Yekan"/>
                <a:sym typeface="XM Yekan"/>
              </a:rPr>
              <a:t>The internship provided valuable hands-on experience in applying machine learning techniques to real business problems, enhancing both technical and analytical skills.</a:t>
            </a:r>
          </a:p>
          <a:p>
            <a:pPr algn="l">
              <a:lnSpc>
                <a:spcPts val="4200"/>
              </a:lnSpc>
            </a:pPr>
          </a:p>
          <a:p>
            <a:pPr algn="l" marL="647700" indent="-323850" lvl="1">
              <a:lnSpc>
                <a:spcPts val="4200"/>
              </a:lnSpc>
              <a:buFont typeface="Arial"/>
              <a:buChar char="•"/>
            </a:pPr>
            <a:r>
              <a:rPr lang="en-US" sz="3000">
                <a:solidFill>
                  <a:srgbClr val="000000"/>
                </a:solidFill>
                <a:latin typeface="XM Yekan"/>
                <a:ea typeface="XM Yekan"/>
                <a:cs typeface="XM Yekan"/>
                <a:sym typeface="XM Yekan"/>
              </a:rPr>
              <a:t>Building the sales forecasting and churn prediction systems improved understanding of end-to-end ML workflows—from data preparation to model deployment and visualization.</a:t>
            </a:r>
          </a:p>
          <a:p>
            <a:pPr algn="l">
              <a:lnSpc>
                <a:spcPts val="4200"/>
              </a:lnSpc>
            </a:pPr>
          </a:p>
          <a:p>
            <a:pPr algn="l" marL="647700" indent="-323850" lvl="1">
              <a:lnSpc>
                <a:spcPts val="4200"/>
              </a:lnSpc>
              <a:buFont typeface="Arial"/>
              <a:buChar char="•"/>
            </a:pPr>
            <a:r>
              <a:rPr lang="en-US" sz="3000">
                <a:solidFill>
                  <a:srgbClr val="000000"/>
                </a:solidFill>
                <a:latin typeface="XM Yekan"/>
                <a:ea typeface="XM Yekan"/>
                <a:cs typeface="XM Yekan"/>
                <a:sym typeface="XM Yekan"/>
              </a:rPr>
              <a:t>Working with real datasets strengthened the ability to interpret patterns, generate insights, and transform raw data into actionable business recommendations.</a:t>
            </a:r>
          </a:p>
          <a:p>
            <a:pPr algn="l">
              <a:lnSpc>
                <a:spcPts val="4200"/>
              </a:lnSpc>
            </a:pPr>
          </a:p>
          <a:p>
            <a:pPr algn="l" marL="647700" indent="-323850" lvl="1">
              <a:lnSpc>
                <a:spcPts val="4200"/>
              </a:lnSpc>
              <a:buFont typeface="Arial"/>
              <a:buChar char="•"/>
            </a:pPr>
            <a:r>
              <a:rPr lang="en-US" sz="3000">
                <a:solidFill>
                  <a:srgbClr val="000000"/>
                </a:solidFill>
                <a:latin typeface="XM Yekan"/>
                <a:ea typeface="XM Yekan"/>
                <a:cs typeface="XM Yekan"/>
                <a:sym typeface="XM Yekan"/>
              </a:rPr>
              <a:t>Developing Power BI dashboards enhanced skills in visual storytelling, helping bridge the gap between technical model outputs and managerial decision-making.</a:t>
            </a:r>
          </a:p>
          <a:p>
            <a:pPr algn="l">
              <a:lnSpc>
                <a:spcPts val="4200"/>
              </a:lnSpc>
            </a:pPr>
          </a:p>
          <a:p>
            <a:pPr algn="l" marL="647700" indent="-323850" lvl="1">
              <a:lnSpc>
                <a:spcPts val="4200"/>
              </a:lnSpc>
              <a:buFont typeface="Arial"/>
              <a:buChar char="•"/>
            </a:pPr>
            <a:r>
              <a:rPr lang="en-US" sz="3000">
                <a:solidFill>
                  <a:srgbClr val="000000"/>
                </a:solidFill>
                <a:latin typeface="XM Yekan"/>
                <a:ea typeface="XM Yekan"/>
                <a:cs typeface="XM Yekan"/>
                <a:sym typeface="XM Yekan"/>
              </a:rPr>
              <a:t>Overall, the internship contributed significantly to professional growth, preparing for future roles in data science, analytics, and AI-driven problem solving.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8F8FC"/>
        </a:solidFill>
      </p:bgPr>
    </p:bg>
    <p:spTree>
      <p:nvGrpSpPr>
        <p:cNvPr id="1" name=""/>
        <p:cNvGrpSpPr/>
        <p:nvPr/>
      </p:nvGrpSpPr>
      <p:grpSpPr>
        <a:xfrm>
          <a:off x="0" y="0"/>
          <a:ext cx="0" cy="0"/>
          <a:chOff x="0" y="0"/>
          <a:chExt cx="0" cy="0"/>
        </a:xfrm>
      </p:grpSpPr>
      <p:grpSp>
        <p:nvGrpSpPr>
          <p:cNvPr name="Group 2" id="2"/>
          <p:cNvGrpSpPr/>
          <p:nvPr/>
        </p:nvGrpSpPr>
        <p:grpSpPr>
          <a:xfrm rot="0">
            <a:off x="-4983129" y="-1819404"/>
            <a:ext cx="27851617" cy="13925809"/>
            <a:chOff x="0" y="0"/>
            <a:chExt cx="37135490" cy="18567745"/>
          </a:xfrm>
        </p:grpSpPr>
        <p:sp>
          <p:nvSpPr>
            <p:cNvPr name="Freeform 3" id="3"/>
            <p:cNvSpPr/>
            <p:nvPr/>
          </p:nvSpPr>
          <p:spPr>
            <a:xfrm flipH="false" flipV="false" rot="0">
              <a:off x="0" y="0"/>
              <a:ext cx="18567745" cy="18567745"/>
            </a:xfrm>
            <a:custGeom>
              <a:avLst/>
              <a:gdLst/>
              <a:ahLst/>
              <a:cxnLst/>
              <a:rect r="r" b="b" t="t" l="l"/>
              <a:pathLst>
                <a:path h="18567745" w="18567745">
                  <a:moveTo>
                    <a:pt x="0" y="0"/>
                  </a:moveTo>
                  <a:lnTo>
                    <a:pt x="18567745" y="0"/>
                  </a:lnTo>
                  <a:lnTo>
                    <a:pt x="18567745" y="18567745"/>
                  </a:lnTo>
                  <a:lnTo>
                    <a:pt x="0" y="18567745"/>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567745" y="0"/>
              <a:ext cx="18567745" cy="18567745"/>
            </a:xfrm>
            <a:custGeom>
              <a:avLst/>
              <a:gdLst/>
              <a:ahLst/>
              <a:cxnLst/>
              <a:rect r="r" b="b" t="t" l="l"/>
              <a:pathLst>
                <a:path h="18567745" w="18567745">
                  <a:moveTo>
                    <a:pt x="18567745" y="0"/>
                  </a:moveTo>
                  <a:lnTo>
                    <a:pt x="0" y="0"/>
                  </a:lnTo>
                  <a:lnTo>
                    <a:pt x="0" y="18567745"/>
                  </a:lnTo>
                  <a:lnTo>
                    <a:pt x="18567745" y="18567745"/>
                  </a:lnTo>
                  <a:lnTo>
                    <a:pt x="18567745"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true" rot="5400000">
            <a:off x="15570520" y="8165856"/>
            <a:ext cx="3014634" cy="4093948"/>
          </a:xfrm>
          <a:custGeom>
            <a:avLst/>
            <a:gdLst/>
            <a:ahLst/>
            <a:cxnLst/>
            <a:rect r="r" b="b" t="t" l="l"/>
            <a:pathLst>
              <a:path h="4093948" w="3014634">
                <a:moveTo>
                  <a:pt x="0" y="4093948"/>
                </a:moveTo>
                <a:lnTo>
                  <a:pt x="3014635" y="4093948"/>
                </a:lnTo>
                <a:lnTo>
                  <a:pt x="3014635" y="0"/>
                </a:lnTo>
                <a:lnTo>
                  <a:pt x="0" y="0"/>
                </a:lnTo>
                <a:lnTo>
                  <a:pt x="0" y="4093948"/>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516447">
            <a:off x="45892" y="8405118"/>
            <a:ext cx="2536017" cy="3443974"/>
          </a:xfrm>
          <a:custGeom>
            <a:avLst/>
            <a:gdLst/>
            <a:ahLst/>
            <a:cxnLst/>
            <a:rect r="r" b="b" t="t" l="l"/>
            <a:pathLst>
              <a:path h="3443974" w="2536017">
                <a:moveTo>
                  <a:pt x="0" y="0"/>
                </a:moveTo>
                <a:lnTo>
                  <a:pt x="2536017" y="0"/>
                </a:lnTo>
                <a:lnTo>
                  <a:pt x="2536017" y="3443974"/>
                </a:lnTo>
                <a:lnTo>
                  <a:pt x="0" y="34439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7259300" y="-1018274"/>
            <a:ext cx="2518983" cy="3420841"/>
          </a:xfrm>
          <a:custGeom>
            <a:avLst/>
            <a:gdLst/>
            <a:ahLst/>
            <a:cxnLst/>
            <a:rect r="r" b="b" t="t" l="l"/>
            <a:pathLst>
              <a:path h="3420841" w="2518983">
                <a:moveTo>
                  <a:pt x="2518983" y="3420841"/>
                </a:moveTo>
                <a:lnTo>
                  <a:pt x="0" y="3420841"/>
                </a:lnTo>
                <a:lnTo>
                  <a:pt x="0" y="0"/>
                </a:lnTo>
                <a:lnTo>
                  <a:pt x="2518983" y="0"/>
                </a:lnTo>
                <a:lnTo>
                  <a:pt x="2518983" y="342084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1259491" y="-681720"/>
            <a:ext cx="2518983" cy="3420841"/>
          </a:xfrm>
          <a:custGeom>
            <a:avLst/>
            <a:gdLst/>
            <a:ahLst/>
            <a:cxnLst/>
            <a:rect r="r" b="b" t="t" l="l"/>
            <a:pathLst>
              <a:path h="3420841" w="2518983">
                <a:moveTo>
                  <a:pt x="0" y="3420840"/>
                </a:moveTo>
                <a:lnTo>
                  <a:pt x="2518982" y="3420840"/>
                </a:lnTo>
                <a:lnTo>
                  <a:pt x="2518982" y="0"/>
                </a:lnTo>
                <a:lnTo>
                  <a:pt x="0" y="0"/>
                </a:lnTo>
                <a:lnTo>
                  <a:pt x="0" y="342084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6231930" y="676275"/>
            <a:ext cx="5824140" cy="809625"/>
          </a:xfrm>
          <a:prstGeom prst="rect">
            <a:avLst/>
          </a:prstGeom>
        </p:spPr>
        <p:txBody>
          <a:bodyPr anchor="t" rtlCol="false" tIns="0" lIns="0" bIns="0" rIns="0">
            <a:spAutoFit/>
          </a:bodyPr>
          <a:lstStyle/>
          <a:p>
            <a:pPr algn="ctr">
              <a:lnSpc>
                <a:spcPts val="6000"/>
              </a:lnSpc>
              <a:spcBef>
                <a:spcPct val="0"/>
              </a:spcBef>
            </a:pPr>
            <a:r>
              <a:rPr lang="en-US" b="true" sz="6000">
                <a:solidFill>
                  <a:srgbClr val="000000"/>
                </a:solidFill>
                <a:latin typeface="XM Yekan Bold"/>
                <a:ea typeface="XM Yekan Bold"/>
                <a:cs typeface="XM Yekan Bold"/>
                <a:sym typeface="XM Yekan Bold"/>
              </a:rPr>
              <a:t>BIBLIOGRAPHY</a:t>
            </a:r>
          </a:p>
        </p:txBody>
      </p:sp>
      <p:sp>
        <p:nvSpPr>
          <p:cNvPr name="TextBox 10" id="10"/>
          <p:cNvSpPr txBox="true"/>
          <p:nvPr/>
        </p:nvSpPr>
        <p:spPr>
          <a:xfrm rot="0">
            <a:off x="1736041" y="2335892"/>
            <a:ext cx="16039466" cy="5211224"/>
          </a:xfrm>
          <a:prstGeom prst="rect">
            <a:avLst/>
          </a:prstGeom>
        </p:spPr>
        <p:txBody>
          <a:bodyPr anchor="t" rtlCol="false" tIns="0" lIns="0" bIns="0" rIns="0">
            <a:spAutoFit/>
          </a:bodyPr>
          <a:lstStyle/>
          <a:p>
            <a:pPr algn="l" marL="647700" indent="-323850" lvl="1">
              <a:lnSpc>
                <a:spcPts val="4200"/>
              </a:lnSpc>
              <a:buFont typeface="Arial"/>
              <a:buChar char="•"/>
            </a:pPr>
            <a:r>
              <a:rPr lang="en-US" b="true" sz="3000">
                <a:solidFill>
                  <a:srgbClr val="000000"/>
                </a:solidFill>
                <a:latin typeface="XM Yekan Bold"/>
                <a:ea typeface="XM Yekan Bold"/>
                <a:cs typeface="XM Yekan Bold"/>
                <a:sym typeface="XM Yekan Bold"/>
              </a:rPr>
              <a:t>Prophet Documentation – Meta Open Source.</a:t>
            </a:r>
          </a:p>
          <a:p>
            <a:pPr algn="l">
              <a:lnSpc>
                <a:spcPts val="4084"/>
              </a:lnSpc>
            </a:pPr>
            <a:r>
              <a:rPr lang="en-US" sz="2917">
                <a:solidFill>
                  <a:srgbClr val="000000"/>
                </a:solidFill>
                <a:latin typeface="XM Yekan"/>
                <a:ea typeface="XM Yekan"/>
                <a:cs typeface="XM Yekan"/>
                <a:sym typeface="XM Yekan"/>
              </a:rPr>
              <a:t>        </a:t>
            </a:r>
            <a:r>
              <a:rPr lang="en-US" sz="2917" u="sng">
                <a:solidFill>
                  <a:srgbClr val="000000"/>
                </a:solidFill>
                <a:latin typeface="XM Yekan"/>
                <a:ea typeface="XM Yekan"/>
                <a:cs typeface="XM Yekan"/>
                <a:sym typeface="XM Yekan"/>
                <a:hlinkClick r:id="rId6" tooltip="https://facebook.github.io/prophet/"/>
              </a:rPr>
              <a:t>https://facebook.github.io/prophet/</a:t>
            </a:r>
          </a:p>
          <a:p>
            <a:pPr algn="l" marL="647700" indent="-323850" lvl="1">
              <a:lnSpc>
                <a:spcPts val="4200"/>
              </a:lnSpc>
              <a:buFont typeface="Arial"/>
              <a:buChar char="•"/>
            </a:pPr>
            <a:r>
              <a:rPr lang="en-US" b="true" sz="3000">
                <a:solidFill>
                  <a:srgbClr val="000000"/>
                </a:solidFill>
                <a:latin typeface="XM Yekan Bold"/>
                <a:ea typeface="XM Yekan Bold"/>
                <a:cs typeface="XM Yekan Bold"/>
                <a:sym typeface="XM Yekan Bold"/>
              </a:rPr>
              <a:t>XGBoost Documentation – Official Guide.</a:t>
            </a:r>
          </a:p>
          <a:p>
            <a:pPr algn="l">
              <a:lnSpc>
                <a:spcPts val="4084"/>
              </a:lnSpc>
            </a:pPr>
            <a:r>
              <a:rPr lang="en-US" sz="2917">
                <a:solidFill>
                  <a:srgbClr val="000000"/>
                </a:solidFill>
                <a:latin typeface="XM Yekan"/>
                <a:ea typeface="XM Yekan"/>
                <a:cs typeface="XM Yekan"/>
                <a:sym typeface="XM Yekan"/>
              </a:rPr>
              <a:t>         </a:t>
            </a:r>
            <a:r>
              <a:rPr lang="en-US" sz="2917" u="sng">
                <a:solidFill>
                  <a:srgbClr val="000000"/>
                </a:solidFill>
                <a:latin typeface="XM Yekan"/>
                <a:ea typeface="XM Yekan"/>
                <a:cs typeface="XM Yekan"/>
                <a:sym typeface="XM Yekan"/>
                <a:hlinkClick r:id="rId7" tooltip="https://xgboost.readthedocs.io"/>
              </a:rPr>
              <a:t>https://xgboost.readthedocs.io/</a:t>
            </a:r>
          </a:p>
          <a:p>
            <a:pPr algn="l" marL="647700" indent="-323850" lvl="1">
              <a:lnSpc>
                <a:spcPts val="4200"/>
              </a:lnSpc>
              <a:buFont typeface="Arial"/>
              <a:buChar char="•"/>
            </a:pPr>
            <a:r>
              <a:rPr lang="en-US" b="true" sz="3000">
                <a:solidFill>
                  <a:srgbClr val="000000"/>
                </a:solidFill>
                <a:latin typeface="XM Yekan Bold"/>
                <a:ea typeface="XM Yekan Bold"/>
                <a:cs typeface="XM Yekan Bold"/>
                <a:sym typeface="XM Yekan Bold"/>
              </a:rPr>
              <a:t>Matplotlib Documentation – Visualization with Python.</a:t>
            </a:r>
          </a:p>
          <a:p>
            <a:pPr algn="l">
              <a:lnSpc>
                <a:spcPts val="4084"/>
              </a:lnSpc>
            </a:pPr>
            <a:r>
              <a:rPr lang="en-US" sz="2917">
                <a:solidFill>
                  <a:srgbClr val="000000"/>
                </a:solidFill>
                <a:latin typeface="XM Yekan"/>
                <a:ea typeface="XM Yekan"/>
                <a:cs typeface="XM Yekan"/>
                <a:sym typeface="XM Yekan"/>
              </a:rPr>
              <a:t>        </a:t>
            </a:r>
            <a:r>
              <a:rPr lang="en-US" sz="2917" u="sng">
                <a:solidFill>
                  <a:srgbClr val="000000"/>
                </a:solidFill>
                <a:latin typeface="XM Yekan"/>
                <a:ea typeface="XM Yekan"/>
                <a:cs typeface="XM Yekan"/>
                <a:sym typeface="XM Yekan"/>
                <a:hlinkClick r:id="rId8" tooltip="https://matplotlib.org"/>
              </a:rPr>
              <a:t>https://matplotlib.org/</a:t>
            </a:r>
          </a:p>
          <a:p>
            <a:pPr algn="l" marL="647700" indent="-323850" lvl="1">
              <a:lnSpc>
                <a:spcPts val="4200"/>
              </a:lnSpc>
              <a:buFont typeface="Arial"/>
              <a:buChar char="•"/>
            </a:pPr>
            <a:r>
              <a:rPr lang="en-US" b="true" sz="3000">
                <a:solidFill>
                  <a:srgbClr val="000000"/>
                </a:solidFill>
                <a:latin typeface="XM Yekan Bold"/>
                <a:ea typeface="XM Yekan Bold"/>
                <a:cs typeface="XM Yekan Bold"/>
                <a:sym typeface="XM Yekan Bold"/>
              </a:rPr>
              <a:t>Microsoft Power BI Documentation – Dashboard Development.</a:t>
            </a:r>
          </a:p>
          <a:p>
            <a:pPr algn="l">
              <a:lnSpc>
                <a:spcPts val="4084"/>
              </a:lnSpc>
            </a:pPr>
            <a:r>
              <a:rPr lang="en-US" sz="2917">
                <a:solidFill>
                  <a:srgbClr val="000000"/>
                </a:solidFill>
                <a:latin typeface="XM Yekan"/>
                <a:ea typeface="XM Yekan"/>
                <a:cs typeface="XM Yekan"/>
                <a:sym typeface="XM Yekan"/>
              </a:rPr>
              <a:t>        </a:t>
            </a:r>
            <a:r>
              <a:rPr lang="en-US" sz="2917" u="sng">
                <a:solidFill>
                  <a:srgbClr val="000000"/>
                </a:solidFill>
                <a:latin typeface="XM Yekan"/>
                <a:ea typeface="XM Yekan"/>
                <a:cs typeface="XM Yekan"/>
                <a:sym typeface="XM Yekan"/>
                <a:hlinkClick r:id="rId9" tooltip="https://learn.microsoft.com/power-bi/"/>
              </a:rPr>
              <a:t>https://learn.microsoft.com/power-bi/</a:t>
            </a:r>
          </a:p>
          <a:p>
            <a:pPr algn="l" marL="629869" indent="-314934" lvl="1">
              <a:lnSpc>
                <a:spcPts val="4084"/>
              </a:lnSpc>
              <a:buFont typeface="Arial"/>
              <a:buChar char="•"/>
            </a:pPr>
            <a:r>
              <a:rPr lang="en-US" b="true" sz="2917">
                <a:solidFill>
                  <a:srgbClr val="000000"/>
                </a:solidFill>
                <a:latin typeface="XM Yekan Bold"/>
                <a:ea typeface="XM Yekan Bold"/>
                <a:cs typeface="XM Yekan Bold"/>
                <a:sym typeface="XM Yekan Bold"/>
              </a:rPr>
              <a:t>Kaggle Datasets – Public datasets for forecasting and churn prediction.</a:t>
            </a:r>
          </a:p>
          <a:p>
            <a:pPr algn="l">
              <a:lnSpc>
                <a:spcPts val="4084"/>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DAG4ryLrPkM</dc:identifier>
  <dcterms:modified xsi:type="dcterms:W3CDTF">2011-08-01T06:04:30Z</dcterms:modified>
  <cp:revision>1</cp:revision>
  <dc:title>Larana University | 2025</dc:title>
</cp:coreProperties>
</file>